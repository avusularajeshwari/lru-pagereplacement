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8"/>
  </p:notesMasterIdLst>
  <p:handoutMasterIdLst>
    <p:handoutMasterId r:id="rId19"/>
  </p:handoutMasterIdLst>
  <p:sldIdLst>
    <p:sldId id="340" r:id="rId5"/>
    <p:sldId id="341" r:id="rId6"/>
    <p:sldId id="356" r:id="rId7"/>
    <p:sldId id="357" r:id="rId8"/>
    <p:sldId id="342" r:id="rId9"/>
    <p:sldId id="343" r:id="rId10"/>
    <p:sldId id="358" r:id="rId11"/>
    <p:sldId id="359" r:id="rId12"/>
    <p:sldId id="346" r:id="rId13"/>
    <p:sldId id="354" r:id="rId14"/>
    <p:sldId id="350" r:id="rId15"/>
    <p:sldId id="360" r:id="rId16"/>
    <p:sldId id="35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autoAdjust="0"/>
  </p:normalViewPr>
  <p:slideViewPr>
    <p:cSldViewPr snapToGrid="0">
      <p:cViewPr>
        <p:scale>
          <a:sx n="75" d="100"/>
          <a:sy n="75" d="100"/>
        </p:scale>
        <p:origin x="974" y="120"/>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10/5/2026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10/5/2026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57955-3CD2-B828-0567-E4ED232E8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38343-AAD2-6473-384B-F2C41E5AC3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302DC-2A51-F77E-C4BB-09E547BF64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4F5B78-DFE0-A08C-2FCC-7E3CCBD6D3FA}"/>
              </a:ext>
            </a:extLst>
          </p:cNvPr>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3684692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B4323-C963-5475-E7BF-19E73FCD4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4AF18-D47F-0945-3B6A-0F58E5B440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302B71-F966-DF27-0104-5D896ED547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C8AFF9-6E27-0BE5-65C0-E93D9A55CD5B}"/>
              </a:ext>
            </a:extLst>
          </p:cNvPr>
          <p:cNvSpPr>
            <a:spLocks noGrp="1"/>
          </p:cNvSpPr>
          <p:nvPr>
            <p:ph type="sldNum" sz="quarter" idx="5"/>
          </p:nvPr>
        </p:nvSpPr>
        <p:spPr/>
        <p:txBody>
          <a:bodyPr/>
          <a:lstStyle/>
          <a:p>
            <a:fld id="{17732C3C-A191-48C2-A7E8-9C96AF841A7A}" type="slidenum">
              <a:rPr lang="en-US" smtClean="0"/>
              <a:t>4</a:t>
            </a:fld>
            <a:endParaRPr lang="en-US" dirty="0"/>
          </a:p>
        </p:txBody>
      </p:sp>
    </p:spTree>
    <p:extLst>
      <p:ext uri="{BB962C8B-B14F-4D97-AF65-F5344CB8AC3E}">
        <p14:creationId xmlns:p14="http://schemas.microsoft.com/office/powerpoint/2010/main" val="3983792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5</a:t>
            </a:fld>
            <a:endParaRPr lang="en-US" dirty="0"/>
          </a:p>
        </p:txBody>
      </p:sp>
    </p:spTree>
    <p:extLst>
      <p:ext uri="{BB962C8B-B14F-4D97-AF65-F5344CB8AC3E}">
        <p14:creationId xmlns:p14="http://schemas.microsoft.com/office/powerpoint/2010/main" val="2403399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6</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18906-9512-D051-9A74-50409EBCF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DADAD-61BE-184D-6A1A-06914BD4E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21B0E-954D-0A0E-D886-49B31A4056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C36BE0-1F8F-BBEC-7A57-72ABAC5C6216}"/>
              </a:ext>
            </a:extLst>
          </p:cNvPr>
          <p:cNvSpPr>
            <a:spLocks noGrp="1"/>
          </p:cNvSpPr>
          <p:nvPr>
            <p:ph type="sldNum" sz="quarter" idx="5"/>
          </p:nvPr>
        </p:nvSpPr>
        <p:spPr/>
        <p:txBody>
          <a:bodyPr/>
          <a:lstStyle/>
          <a:p>
            <a:fld id="{17732C3C-A191-48C2-A7E8-9C96AF841A7A}" type="slidenum">
              <a:rPr lang="en-US" smtClean="0"/>
              <a:t>7</a:t>
            </a:fld>
            <a:endParaRPr lang="en-US" dirty="0"/>
          </a:p>
        </p:txBody>
      </p:sp>
    </p:spTree>
    <p:extLst>
      <p:ext uri="{BB962C8B-B14F-4D97-AF65-F5344CB8AC3E}">
        <p14:creationId xmlns:p14="http://schemas.microsoft.com/office/powerpoint/2010/main" val="207594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08DA-F82E-D9AE-6C75-CCDFCD4FD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0653C-6D98-948E-54C1-4A57282B9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F9E9E-9E76-BC0B-5B54-78E30651F6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A44409-53B6-B3DE-9019-981462FE0772}"/>
              </a:ext>
            </a:extLst>
          </p:cNvPr>
          <p:cNvSpPr>
            <a:spLocks noGrp="1"/>
          </p:cNvSpPr>
          <p:nvPr>
            <p:ph type="sldNum" sz="quarter" idx="5"/>
          </p:nvPr>
        </p:nvSpPr>
        <p:spPr/>
        <p:txBody>
          <a:bodyPr/>
          <a:lstStyle/>
          <a:p>
            <a:fld id="{17732C3C-A191-48C2-A7E8-9C96AF841A7A}" type="slidenum">
              <a:rPr lang="en-US" smtClean="0"/>
              <a:t>8</a:t>
            </a:fld>
            <a:endParaRPr lang="en-US" dirty="0"/>
          </a:p>
        </p:txBody>
      </p:sp>
    </p:spTree>
    <p:extLst>
      <p:ext uri="{BB962C8B-B14F-4D97-AF65-F5344CB8AC3E}">
        <p14:creationId xmlns:p14="http://schemas.microsoft.com/office/powerpoint/2010/main" val="3527666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9</a:t>
            </a:fld>
            <a:endParaRPr lang="en-US" dirty="0"/>
          </a:p>
        </p:txBody>
      </p:sp>
    </p:spTree>
    <p:extLst>
      <p:ext uri="{BB962C8B-B14F-4D97-AF65-F5344CB8AC3E}">
        <p14:creationId xmlns:p14="http://schemas.microsoft.com/office/powerpoint/2010/main" val="3434749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10</a:t>
            </a:fld>
            <a:endParaRPr lang="en-US" dirty="0"/>
          </a:p>
        </p:txBody>
      </p:sp>
    </p:spTree>
    <p:extLst>
      <p:ext uri="{BB962C8B-B14F-4D97-AF65-F5344CB8AC3E}">
        <p14:creationId xmlns:p14="http://schemas.microsoft.com/office/powerpoint/2010/main" val="744771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11</a:t>
            </a:fld>
            <a:endParaRPr lang="en-US" dirty="0"/>
          </a:p>
        </p:txBody>
      </p:sp>
    </p:spTree>
    <p:extLst>
      <p:ext uri="{BB962C8B-B14F-4D97-AF65-F5344CB8AC3E}">
        <p14:creationId xmlns:p14="http://schemas.microsoft.com/office/powerpoint/2010/main" val="1213355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5A0BB-2682-A523-8851-09F8722B9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9B122-F514-6F86-FAD6-E86E288D4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C030C9-6448-BBC9-7031-8D33AB44E9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DCCEBF-D48A-FE92-C162-65D01F5C5008}"/>
              </a:ext>
            </a:extLst>
          </p:cNvPr>
          <p:cNvSpPr>
            <a:spLocks noGrp="1"/>
          </p:cNvSpPr>
          <p:nvPr>
            <p:ph type="sldNum" sz="quarter" idx="5"/>
          </p:nvPr>
        </p:nvSpPr>
        <p:spPr/>
        <p:txBody>
          <a:bodyPr/>
          <a:lstStyle/>
          <a:p>
            <a:fld id="{17732C3C-A191-48C2-A7E8-9C96AF841A7A}" type="slidenum">
              <a:rPr lang="en-US" smtClean="0"/>
              <a:t>12</a:t>
            </a:fld>
            <a:endParaRPr lang="en-US" dirty="0"/>
          </a:p>
        </p:txBody>
      </p:sp>
    </p:spTree>
    <p:extLst>
      <p:ext uri="{BB962C8B-B14F-4D97-AF65-F5344CB8AC3E}">
        <p14:creationId xmlns:p14="http://schemas.microsoft.com/office/powerpoint/2010/main" val="3535140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13</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10/5/2026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633046"/>
            <a:ext cx="10571998" cy="1579212"/>
          </a:xfrm>
        </p:spPr>
        <p:txBody>
          <a:bodyPr/>
          <a:lstStyle/>
          <a:p>
            <a:pPr lvl="0"/>
            <a:r>
              <a:rPr lang="en-IN" sz="4800" dirty="0"/>
              <a:t>LRU (Least Recently Used) Page Replacement Algorithm</a:t>
            </a:r>
            <a:endParaRPr lang="en-US" sz="4800" noProof="0" dirty="0"/>
          </a:p>
        </p:txBody>
      </p:sp>
      <p:sp>
        <p:nvSpPr>
          <p:cNvPr id="3" name="TextBox 2">
            <a:extLst>
              <a:ext uri="{FF2B5EF4-FFF2-40B4-BE49-F238E27FC236}">
                <a16:creationId xmlns:a16="http://schemas.microsoft.com/office/drawing/2014/main" id="{56FB15FC-1A8D-F06B-1E5E-FAA167D4D200}"/>
              </a:ext>
            </a:extLst>
          </p:cNvPr>
          <p:cNvSpPr txBox="1"/>
          <p:nvPr/>
        </p:nvSpPr>
        <p:spPr>
          <a:xfrm>
            <a:off x="1307690" y="3369751"/>
            <a:ext cx="4788310" cy="1754326"/>
          </a:xfrm>
          <a:prstGeom prst="rect">
            <a:avLst/>
          </a:prstGeom>
          <a:noFill/>
        </p:spPr>
        <p:txBody>
          <a:bodyPr wrap="square" rtlCol="0">
            <a:spAutoFit/>
          </a:bodyPr>
          <a:lstStyle/>
          <a:p>
            <a:r>
              <a:rPr lang="en-IN" dirty="0"/>
              <a:t>Team Members: </a:t>
            </a:r>
            <a:br>
              <a:rPr lang="en-IN" dirty="0"/>
            </a:br>
            <a:br>
              <a:rPr lang="en-IN" dirty="0"/>
            </a:br>
            <a:r>
              <a:rPr lang="en-IN" dirty="0"/>
              <a:t>2510030179 – Ch Hymavathy</a:t>
            </a:r>
          </a:p>
          <a:p>
            <a:r>
              <a:rPr lang="en-IN" dirty="0"/>
              <a:t>2510030404 – Jyoshna Surya Sri</a:t>
            </a:r>
          </a:p>
          <a:p>
            <a:r>
              <a:rPr lang="en-IN" dirty="0"/>
              <a:t>2510030316 – A Rajeshwari</a:t>
            </a:r>
            <a:br>
              <a:rPr lang="en-IN" dirty="0"/>
            </a:br>
            <a:r>
              <a:rPr lang="en-IN" dirty="0"/>
              <a:t>2510030397 – R Jashwitha</a:t>
            </a:r>
          </a:p>
        </p:txBody>
      </p:sp>
      <p:sp>
        <p:nvSpPr>
          <p:cNvPr id="4" name="TextBox 3">
            <a:extLst>
              <a:ext uri="{FF2B5EF4-FFF2-40B4-BE49-F238E27FC236}">
                <a16:creationId xmlns:a16="http://schemas.microsoft.com/office/drawing/2014/main" id="{79D7CBCF-2273-754E-F696-A08616688E4D}"/>
              </a:ext>
            </a:extLst>
          </p:cNvPr>
          <p:cNvSpPr txBox="1"/>
          <p:nvPr/>
        </p:nvSpPr>
        <p:spPr>
          <a:xfrm>
            <a:off x="5250426" y="2237006"/>
            <a:ext cx="2920180" cy="369332"/>
          </a:xfrm>
          <a:prstGeom prst="rect">
            <a:avLst/>
          </a:prstGeom>
          <a:noFill/>
        </p:spPr>
        <p:txBody>
          <a:bodyPr wrap="square" rtlCol="0">
            <a:spAutoFit/>
          </a:bodyPr>
          <a:lstStyle/>
          <a:p>
            <a:r>
              <a:rPr lang="en-IN" dirty="0"/>
              <a:t>TEAM No: 14</a:t>
            </a:r>
          </a:p>
        </p:txBody>
      </p:sp>
      <p:sp>
        <p:nvSpPr>
          <p:cNvPr id="5" name="TextBox 4">
            <a:extLst>
              <a:ext uri="{FF2B5EF4-FFF2-40B4-BE49-F238E27FC236}">
                <a16:creationId xmlns:a16="http://schemas.microsoft.com/office/drawing/2014/main" id="{DC457875-CF16-8FF5-D986-010E4485B91B}"/>
              </a:ext>
            </a:extLst>
          </p:cNvPr>
          <p:cNvSpPr txBox="1"/>
          <p:nvPr/>
        </p:nvSpPr>
        <p:spPr>
          <a:xfrm>
            <a:off x="4444180" y="5702824"/>
            <a:ext cx="3805084" cy="369332"/>
          </a:xfrm>
          <a:prstGeom prst="rect">
            <a:avLst/>
          </a:prstGeom>
          <a:noFill/>
        </p:spPr>
        <p:txBody>
          <a:bodyPr wrap="square" rtlCol="0">
            <a:spAutoFit/>
          </a:bodyPr>
          <a:lstStyle/>
          <a:p>
            <a:r>
              <a:rPr lang="en-IN" dirty="0"/>
              <a:t>Supervisor : Dr. Alluri Seenu sir</a:t>
            </a:r>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924167"/>
            <a:ext cx="4383156" cy="5009322"/>
          </a:xfrm>
        </p:spPr>
        <p:txBody>
          <a:bodyPr/>
          <a:lstStyle/>
          <a:p>
            <a:r>
              <a:rPr lang="en-US" dirty="0"/>
              <a:t>Problem </a:t>
            </a:r>
            <a:br>
              <a:rPr lang="en-US" dirty="0"/>
            </a:br>
            <a:r>
              <a:rPr lang="en-US" dirty="0"/>
              <a:t>Statement</a:t>
            </a:r>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400800" y="924512"/>
            <a:ext cx="4750904" cy="5008977"/>
          </a:xfrm>
        </p:spPr>
        <p:txBody>
          <a:bodyPr/>
          <a:lstStyle/>
          <a:p>
            <a:r>
              <a:rPr lang="en-IN" dirty="0"/>
              <a:t>To design and implement an LRU (Least Recently Used) Page Replacement system that efficiently manages memory by identifying and replacing the page that has been least recently accessed, thereby reducing page faults and improving memory utilization.</a:t>
            </a:r>
          </a:p>
          <a:p>
            <a:pPr lvl="0"/>
            <a:endParaRPr lang="en-US" noProof="0" dirty="0"/>
          </a:p>
        </p:txBody>
      </p:sp>
    </p:spTree>
    <p:extLst>
      <p:ext uri="{BB962C8B-B14F-4D97-AF65-F5344CB8AC3E}">
        <p14:creationId xmlns:p14="http://schemas.microsoft.com/office/powerpoint/2010/main" val="90992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5D0AB-1147-08C5-ABB4-FA496DE89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B8CF0-5179-1428-938C-A75646CF3D22}"/>
              </a:ext>
            </a:extLst>
          </p:cNvPr>
          <p:cNvSpPr>
            <a:spLocks noGrp="1"/>
          </p:cNvSpPr>
          <p:nvPr>
            <p:ph type="title"/>
          </p:nvPr>
        </p:nvSpPr>
        <p:spPr>
          <a:xfrm>
            <a:off x="944217" y="924167"/>
            <a:ext cx="4383156" cy="5009322"/>
          </a:xfrm>
        </p:spPr>
        <p:txBody>
          <a:bodyPr/>
          <a:lstStyle/>
          <a:p>
            <a:r>
              <a:rPr lang="en-US" dirty="0"/>
              <a:t>Introduction</a:t>
            </a:r>
          </a:p>
        </p:txBody>
      </p:sp>
      <p:sp>
        <p:nvSpPr>
          <p:cNvPr id="3" name="Text Placeholder 2">
            <a:extLst>
              <a:ext uri="{FF2B5EF4-FFF2-40B4-BE49-F238E27FC236}">
                <a16:creationId xmlns:a16="http://schemas.microsoft.com/office/drawing/2014/main" id="{AC2932D6-779D-8CF2-C540-41519981E227}"/>
              </a:ext>
            </a:extLst>
          </p:cNvPr>
          <p:cNvSpPr>
            <a:spLocks noGrp="1"/>
          </p:cNvSpPr>
          <p:nvPr>
            <p:ph type="body" sz="quarter" idx="14"/>
          </p:nvPr>
        </p:nvSpPr>
        <p:spPr>
          <a:xfrm>
            <a:off x="6400800" y="924512"/>
            <a:ext cx="4750904" cy="5008977"/>
          </a:xfrm>
        </p:spPr>
        <p:txBody>
          <a:bodyPr/>
          <a:lstStyle/>
          <a:p>
            <a:r>
              <a:rPr lang="en-IN" dirty="0"/>
              <a:t>LRU stands for Least Recently Used. It is a page replacement algorithm used in Operating Systems when the main memory is full. LRU replaces the page that has not been used for the longest time. The main aim of the LRU algorithm is to reduce page faults and improve memory utilization.</a:t>
            </a:r>
          </a:p>
          <a:p>
            <a:pPr lvl="0"/>
            <a:endParaRPr lang="en-US" noProof="0" dirty="0"/>
          </a:p>
        </p:txBody>
      </p:sp>
    </p:spTree>
    <p:extLst>
      <p:ext uri="{BB962C8B-B14F-4D97-AF65-F5344CB8AC3E}">
        <p14:creationId xmlns:p14="http://schemas.microsoft.com/office/powerpoint/2010/main" val="877974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22B31-7011-3725-4CAF-131960025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14192-77B6-C09E-F9EC-D4FF5C96EDF9}"/>
              </a:ext>
            </a:extLst>
          </p:cNvPr>
          <p:cNvSpPr>
            <a:spLocks noGrp="1"/>
          </p:cNvSpPr>
          <p:nvPr>
            <p:ph type="title"/>
          </p:nvPr>
        </p:nvSpPr>
        <p:spPr>
          <a:xfrm>
            <a:off x="944217" y="924167"/>
            <a:ext cx="4383156" cy="5009322"/>
          </a:xfrm>
        </p:spPr>
        <p:txBody>
          <a:bodyPr/>
          <a:lstStyle/>
          <a:p>
            <a:r>
              <a:rPr lang="en-US" dirty="0"/>
              <a:t>Objective</a:t>
            </a:r>
          </a:p>
        </p:txBody>
      </p:sp>
      <p:sp>
        <p:nvSpPr>
          <p:cNvPr id="3" name="Text Placeholder 2">
            <a:extLst>
              <a:ext uri="{FF2B5EF4-FFF2-40B4-BE49-F238E27FC236}">
                <a16:creationId xmlns:a16="http://schemas.microsoft.com/office/drawing/2014/main" id="{D2F37C88-720E-5EAA-731A-EC56882DAADC}"/>
              </a:ext>
            </a:extLst>
          </p:cNvPr>
          <p:cNvSpPr>
            <a:spLocks noGrp="1"/>
          </p:cNvSpPr>
          <p:nvPr>
            <p:ph type="body" sz="quarter" idx="14"/>
          </p:nvPr>
        </p:nvSpPr>
        <p:spPr>
          <a:xfrm>
            <a:off x="6400800" y="924512"/>
            <a:ext cx="4750904" cy="5008977"/>
          </a:xfrm>
        </p:spPr>
        <p:txBody>
          <a:bodyPr/>
          <a:lstStyle/>
          <a:p>
            <a:pPr lvl="0"/>
            <a:r>
              <a:rPr lang="en-IN" dirty="0"/>
              <a:t>To understand page replacement in Operating Systems.</a:t>
            </a:r>
          </a:p>
          <a:p>
            <a:pPr lvl="0"/>
            <a:r>
              <a:rPr lang="en-IN" dirty="0"/>
              <a:t>To implement the LRU (Least Recently Used) algorithm.</a:t>
            </a:r>
          </a:p>
          <a:p>
            <a:pPr lvl="0"/>
            <a:r>
              <a:rPr lang="en-IN" dirty="0"/>
              <a:t>To identify page hits and page faults.</a:t>
            </a:r>
          </a:p>
          <a:p>
            <a:pPr lvl="0"/>
            <a:r>
              <a:rPr lang="en-IN" dirty="0"/>
              <a:t>To reduce the number of page faults.</a:t>
            </a:r>
          </a:p>
          <a:p>
            <a:pPr lvl="0"/>
            <a:r>
              <a:rPr lang="en-IN" dirty="0"/>
              <a:t>To improve memory management.</a:t>
            </a:r>
          </a:p>
          <a:p>
            <a:pPr lvl="0"/>
            <a:endParaRPr lang="en-US" noProof="0" dirty="0"/>
          </a:p>
        </p:txBody>
      </p:sp>
    </p:spTree>
    <p:extLst>
      <p:ext uri="{BB962C8B-B14F-4D97-AF65-F5344CB8AC3E}">
        <p14:creationId xmlns:p14="http://schemas.microsoft.com/office/powerpoint/2010/main" val="38611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a:xfrm>
            <a:off x="3903405" y="752522"/>
            <a:ext cx="3932903" cy="896469"/>
          </a:xfrm>
        </p:spPr>
        <p:txBody>
          <a:bodyPr/>
          <a:lstStyle/>
          <a:p>
            <a:pPr lvl="0"/>
            <a:r>
              <a:rPr lang="en-US" sz="4400" noProof="0" dirty="0"/>
              <a:t>LRU Working</a:t>
            </a:r>
          </a:p>
        </p:txBody>
      </p:sp>
      <p:sp>
        <p:nvSpPr>
          <p:cNvPr id="3" name="Subtitle 2">
            <a:extLst>
              <a:ext uri="{FF2B5EF4-FFF2-40B4-BE49-F238E27FC236}">
                <a16:creationId xmlns:a16="http://schemas.microsoft.com/office/drawing/2014/main" id="{29F16AEF-ABBB-D2DD-A297-5819AEB9AF67}"/>
              </a:ext>
            </a:extLst>
          </p:cNvPr>
          <p:cNvSpPr>
            <a:spLocks noGrp="1"/>
          </p:cNvSpPr>
          <p:nvPr>
            <p:ph type="subTitle" idx="1"/>
          </p:nvPr>
        </p:nvSpPr>
        <p:spPr>
          <a:xfrm>
            <a:off x="-1070406" y="3624108"/>
            <a:ext cx="7452852" cy="896468"/>
          </a:xfrm>
        </p:spPr>
        <p:txBody>
          <a:bodyPr>
            <a:normAutofit fontScale="25000" lnSpcReduction="20000"/>
          </a:bodyPr>
          <a:lstStyle/>
          <a:p>
            <a:pPr lvl="0"/>
            <a:r>
              <a:rPr lang="en-IN" sz="5600" dirty="0"/>
              <a:t>1.Take the reference string as input.</a:t>
            </a:r>
          </a:p>
          <a:p>
            <a:pPr lvl="0"/>
            <a:r>
              <a:rPr lang="en-IN" sz="5600" dirty="0"/>
              <a:t>                   2.Set the number of available memory frames.</a:t>
            </a:r>
          </a:p>
          <a:p>
            <a:pPr lvl="0"/>
            <a:r>
              <a:rPr lang="en-IN" sz="5600" dirty="0"/>
              <a:t>                                        3.Check whether the requested page is already present in memory.</a:t>
            </a:r>
          </a:p>
          <a:p>
            <a:pPr lvl="0"/>
            <a:r>
              <a:rPr lang="en-IN" sz="5600" dirty="0"/>
              <a:t>     4.If the page is present, it is a Page Hit.</a:t>
            </a:r>
          </a:p>
          <a:p>
            <a:pPr lvl="0"/>
            <a:r>
              <a:rPr lang="en-IN" sz="5600" dirty="0"/>
              <a:t>               5.If the page is not present, it is a Page Fault.</a:t>
            </a:r>
          </a:p>
          <a:p>
            <a:pPr lvl="0"/>
            <a:r>
              <a:rPr lang="en-IN" sz="5600" dirty="0"/>
              <a:t>                              6.If an empty frame is available, insert the new page.</a:t>
            </a:r>
          </a:p>
          <a:p>
            <a:pPr lvl="0"/>
            <a:r>
              <a:rPr lang="en-IN" sz="5600" dirty="0"/>
              <a:t>		     7.If all frames are full, find the Least Recently Used </a:t>
            </a:r>
          </a:p>
          <a:p>
            <a:pPr lvl="0"/>
            <a:r>
              <a:rPr lang="en-IN" sz="5600" dirty="0"/>
              <a:t>(LRU) page.</a:t>
            </a:r>
          </a:p>
          <a:p>
            <a:pPr lvl="0"/>
            <a:r>
              <a:rPr lang="en-IN" sz="5600" dirty="0"/>
              <a:t>	    8.Replace the LRU page with the new page.</a:t>
            </a:r>
          </a:p>
          <a:p>
            <a:pPr lvl="0"/>
            <a:r>
              <a:rPr lang="en-IN" sz="5600" dirty="0"/>
              <a:t>                                          9.Continue the same process until all pages in the reference</a:t>
            </a:r>
          </a:p>
          <a:p>
            <a:pPr lvl="0"/>
            <a:r>
              <a:rPr lang="en-IN" sz="5600" dirty="0"/>
              <a:t> string are completed.</a:t>
            </a:r>
          </a:p>
          <a:p>
            <a:pPr lvl="0"/>
            <a:r>
              <a:rPr lang="en-IN" sz="5600" dirty="0"/>
              <a:t>                                 10.Display the total number of page hits and page faults.</a:t>
            </a:r>
          </a:p>
          <a:p>
            <a:pPr lvl="0"/>
            <a:endParaRPr lang="en-US" noProof="0" dirty="0"/>
          </a:p>
        </p:txBody>
      </p:sp>
    </p:spTree>
    <p:extLst>
      <p:ext uri="{BB962C8B-B14F-4D97-AF65-F5344CB8AC3E}">
        <p14:creationId xmlns:p14="http://schemas.microsoft.com/office/powerpoint/2010/main" val="1173936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a:xfrm>
            <a:off x="550717" y="924339"/>
            <a:ext cx="3990110" cy="5009322"/>
          </a:xfrm>
        </p:spPr>
        <p:txBody>
          <a:bodyPr/>
          <a:lstStyle/>
          <a:p>
            <a:r>
              <a:rPr lang="en-US" dirty="0"/>
              <a:t>Algorithm</a:t>
            </a:r>
          </a:p>
        </p:txBody>
      </p:sp>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4847303" y="737418"/>
            <a:ext cx="6174031" cy="5196243"/>
          </a:xfrm>
        </p:spPr>
        <p:txBody>
          <a:bodyPr>
            <a:normAutofit fontScale="47500" lnSpcReduction="20000"/>
          </a:bodyPr>
          <a:lstStyle/>
          <a:p>
            <a:pPr lvl="0"/>
            <a:r>
              <a:rPr lang="en-IN" sz="2500" b="1" dirty="0"/>
              <a:t>Start</a:t>
            </a:r>
            <a:endParaRPr lang="en-IN" sz="2500" dirty="0"/>
          </a:p>
          <a:p>
            <a:pPr lvl="0"/>
            <a:r>
              <a:rPr lang="en-IN" sz="2500" dirty="0"/>
              <a:t>Enter the </a:t>
            </a:r>
            <a:r>
              <a:rPr lang="en-IN" sz="2500" b="1" dirty="0"/>
              <a:t>reference string</a:t>
            </a:r>
            <a:r>
              <a:rPr lang="en-IN" sz="2500" dirty="0"/>
              <a:t>.</a:t>
            </a:r>
          </a:p>
          <a:p>
            <a:pPr lvl="0"/>
            <a:r>
              <a:rPr lang="en-IN" sz="2500" dirty="0"/>
              <a:t>Enter the </a:t>
            </a:r>
            <a:r>
              <a:rPr lang="en-IN" sz="2500" b="1" dirty="0"/>
              <a:t>number of available frames</a:t>
            </a:r>
            <a:r>
              <a:rPr lang="en-IN" sz="2500" dirty="0"/>
              <a:t>.</a:t>
            </a:r>
          </a:p>
          <a:p>
            <a:pPr lvl="0"/>
            <a:r>
              <a:rPr lang="en-IN" sz="2500" dirty="0"/>
              <a:t>Initialize all frames as empty.</a:t>
            </a:r>
          </a:p>
          <a:p>
            <a:pPr lvl="0"/>
            <a:r>
              <a:rPr lang="en-IN" sz="2500" dirty="0"/>
              <a:t>Read each page from the reference string.</a:t>
            </a:r>
          </a:p>
          <a:p>
            <a:pPr lvl="0"/>
            <a:r>
              <a:rPr lang="en-IN" sz="2500" dirty="0"/>
              <a:t>Check whether the page is already present in a frame.</a:t>
            </a:r>
          </a:p>
          <a:p>
            <a:pPr lvl="0"/>
            <a:r>
              <a:rPr lang="en-IN" sz="2500" dirty="0"/>
              <a:t>If the page is present:</a:t>
            </a:r>
          </a:p>
          <a:p>
            <a:pPr lvl="1"/>
            <a:r>
              <a:rPr lang="en-IN" sz="2500" dirty="0"/>
              <a:t>Mark it as a </a:t>
            </a:r>
            <a:r>
              <a:rPr lang="en-IN" sz="2500" b="1" dirty="0"/>
              <a:t>Page Hit</a:t>
            </a:r>
            <a:r>
              <a:rPr lang="en-IN" sz="2500" dirty="0"/>
              <a:t>.</a:t>
            </a:r>
          </a:p>
          <a:p>
            <a:pPr lvl="1"/>
            <a:r>
              <a:rPr lang="en-IN" sz="2500" dirty="0"/>
              <a:t>Update its recent-use information.</a:t>
            </a:r>
          </a:p>
          <a:p>
            <a:pPr lvl="0"/>
            <a:r>
              <a:rPr lang="en-IN" sz="2500" dirty="0"/>
              <a:t>If the page is not present:</a:t>
            </a:r>
          </a:p>
          <a:p>
            <a:pPr lvl="1"/>
            <a:r>
              <a:rPr lang="en-IN" sz="2500" dirty="0"/>
              <a:t>Mark it as a </a:t>
            </a:r>
            <a:r>
              <a:rPr lang="en-IN" sz="2500" b="1" dirty="0"/>
              <a:t>Page Fault</a:t>
            </a:r>
            <a:r>
              <a:rPr lang="en-IN" sz="2500" dirty="0"/>
              <a:t>.</a:t>
            </a:r>
          </a:p>
          <a:p>
            <a:pPr lvl="0"/>
            <a:r>
              <a:rPr lang="en-IN" sz="2500" dirty="0"/>
              <a:t>If an empty frame is available:</a:t>
            </a:r>
          </a:p>
          <a:p>
            <a:pPr lvl="1"/>
            <a:r>
              <a:rPr lang="en-IN" sz="2500" dirty="0"/>
              <a:t>Insert the new page into the empty frame.</a:t>
            </a:r>
          </a:p>
          <a:p>
            <a:pPr lvl="0"/>
            <a:r>
              <a:rPr lang="en-IN" sz="2500" dirty="0"/>
              <a:t>If all frames are full:</a:t>
            </a:r>
          </a:p>
          <a:p>
            <a:pPr lvl="0"/>
            <a:r>
              <a:rPr lang="en-IN" sz="2500" dirty="0"/>
              <a:t>Find the </a:t>
            </a:r>
            <a:r>
              <a:rPr lang="en-IN" sz="2500" b="1" dirty="0"/>
              <a:t>least recently used page</a:t>
            </a:r>
            <a:r>
              <a:rPr lang="en-IN" sz="2500" dirty="0"/>
              <a:t>.</a:t>
            </a:r>
          </a:p>
          <a:p>
            <a:pPr lvl="0"/>
            <a:r>
              <a:rPr lang="en-IN" sz="2500" dirty="0"/>
              <a:t>Replace that page with the new page.</a:t>
            </a:r>
          </a:p>
          <a:p>
            <a:pPr lvl="0"/>
            <a:r>
              <a:rPr lang="en-IN" sz="2500" dirty="0"/>
              <a:t>Continue until all pages in the reference string are processed.</a:t>
            </a:r>
          </a:p>
          <a:p>
            <a:pPr lvl="0"/>
            <a:r>
              <a:rPr lang="en-IN" sz="2500" dirty="0"/>
              <a:t>Calculate the total </a:t>
            </a:r>
            <a:r>
              <a:rPr lang="en-IN" sz="2500" b="1" dirty="0"/>
              <a:t>Page Hits</a:t>
            </a:r>
            <a:r>
              <a:rPr lang="en-IN" sz="2500" dirty="0"/>
              <a:t> and </a:t>
            </a:r>
            <a:r>
              <a:rPr lang="en-IN" sz="2500" b="1" dirty="0"/>
              <a:t>Page Faults</a:t>
            </a:r>
            <a:r>
              <a:rPr lang="en-IN" sz="2500" dirty="0"/>
              <a:t>.</a:t>
            </a:r>
          </a:p>
          <a:p>
            <a:pPr lvl="0"/>
            <a:r>
              <a:rPr lang="en-IN" sz="2500" dirty="0"/>
              <a:t>Display the final frames and results.</a:t>
            </a:r>
          </a:p>
          <a:p>
            <a:pPr lvl="0"/>
            <a:r>
              <a:rPr lang="en-IN" sz="2500" b="1" dirty="0"/>
              <a:t>Stop</a:t>
            </a:r>
            <a:r>
              <a:rPr lang="en-IN" sz="2500" dirty="0"/>
              <a:t>.</a:t>
            </a:r>
          </a:p>
          <a:p>
            <a:pPr lvl="0"/>
            <a:endParaRPr lang="en-US" noProof="0" dirty="0"/>
          </a:p>
        </p:txBody>
      </p:sp>
    </p:spTree>
    <p:extLst>
      <p:ext uri="{BB962C8B-B14F-4D97-AF65-F5344CB8AC3E}">
        <p14:creationId xmlns:p14="http://schemas.microsoft.com/office/powerpoint/2010/main" val="959076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22F4E-5CFD-E161-2812-009CECA22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FD65C-9531-01C7-1D1A-D3D735997ECC}"/>
              </a:ext>
            </a:extLst>
          </p:cNvPr>
          <p:cNvSpPr>
            <a:spLocks noGrp="1"/>
          </p:cNvSpPr>
          <p:nvPr>
            <p:ph type="title"/>
          </p:nvPr>
        </p:nvSpPr>
        <p:spPr>
          <a:xfrm>
            <a:off x="4129548" y="153838"/>
            <a:ext cx="3932903" cy="896469"/>
          </a:xfrm>
        </p:spPr>
        <p:txBody>
          <a:bodyPr/>
          <a:lstStyle/>
          <a:p>
            <a:pPr lvl="0"/>
            <a:r>
              <a:rPr lang="en-US" sz="3200" dirty="0"/>
              <a:t>LRU Flowchart</a:t>
            </a:r>
            <a:endParaRPr lang="en-US" sz="3200" noProof="0" dirty="0"/>
          </a:p>
        </p:txBody>
      </p:sp>
      <p:sp>
        <p:nvSpPr>
          <p:cNvPr id="4" name="Flowchart: Terminator 3">
            <a:extLst>
              <a:ext uri="{FF2B5EF4-FFF2-40B4-BE49-F238E27FC236}">
                <a16:creationId xmlns:a16="http://schemas.microsoft.com/office/drawing/2014/main" id="{D07BDA81-DE10-1EDE-79C3-FA9111BAA08C}"/>
              </a:ext>
            </a:extLst>
          </p:cNvPr>
          <p:cNvSpPr/>
          <p:nvPr/>
        </p:nvSpPr>
        <p:spPr>
          <a:xfrm>
            <a:off x="1152638" y="1326350"/>
            <a:ext cx="1064344" cy="416560"/>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66F1515-2C81-1081-0833-C63D377C4293}"/>
              </a:ext>
            </a:extLst>
          </p:cNvPr>
          <p:cNvSpPr txBox="1"/>
          <p:nvPr/>
        </p:nvSpPr>
        <p:spPr>
          <a:xfrm>
            <a:off x="1338142" y="1326350"/>
            <a:ext cx="693336" cy="369332"/>
          </a:xfrm>
          <a:prstGeom prst="rect">
            <a:avLst/>
          </a:prstGeom>
          <a:noFill/>
        </p:spPr>
        <p:txBody>
          <a:bodyPr wrap="square" rtlCol="0">
            <a:spAutoFit/>
          </a:bodyPr>
          <a:lstStyle/>
          <a:p>
            <a:r>
              <a:rPr lang="en-IN" dirty="0">
                <a:solidFill>
                  <a:schemeClr val="bg1"/>
                </a:solidFill>
              </a:rPr>
              <a:t>start</a:t>
            </a:r>
          </a:p>
        </p:txBody>
      </p:sp>
      <p:sp>
        <p:nvSpPr>
          <p:cNvPr id="10" name="Flowchart: Alternate Process 9">
            <a:extLst>
              <a:ext uri="{FF2B5EF4-FFF2-40B4-BE49-F238E27FC236}">
                <a16:creationId xmlns:a16="http://schemas.microsoft.com/office/drawing/2014/main" id="{59E83794-52B4-1415-4FC6-2EBB005DA246}"/>
              </a:ext>
            </a:extLst>
          </p:cNvPr>
          <p:cNvSpPr/>
          <p:nvPr/>
        </p:nvSpPr>
        <p:spPr>
          <a:xfrm>
            <a:off x="2750808" y="1319665"/>
            <a:ext cx="1706876" cy="44911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Enter Reference String</a:t>
            </a:r>
          </a:p>
        </p:txBody>
      </p:sp>
      <p:sp>
        <p:nvSpPr>
          <p:cNvPr id="12" name="Flowchart: Alternate Process 11">
            <a:extLst>
              <a:ext uri="{FF2B5EF4-FFF2-40B4-BE49-F238E27FC236}">
                <a16:creationId xmlns:a16="http://schemas.microsoft.com/office/drawing/2014/main" id="{E08D9159-D80B-4442-BA1C-7D4A98154695}"/>
              </a:ext>
            </a:extLst>
          </p:cNvPr>
          <p:cNvSpPr/>
          <p:nvPr/>
        </p:nvSpPr>
        <p:spPr>
          <a:xfrm>
            <a:off x="5177014" y="1306446"/>
            <a:ext cx="2052320" cy="4914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solidFill>
              </a:rPr>
              <a:t>Enter Number of Frames</a:t>
            </a:r>
          </a:p>
        </p:txBody>
      </p:sp>
      <p:sp>
        <p:nvSpPr>
          <p:cNvPr id="13" name="Flowchart: Decision 12">
            <a:extLst>
              <a:ext uri="{FF2B5EF4-FFF2-40B4-BE49-F238E27FC236}">
                <a16:creationId xmlns:a16="http://schemas.microsoft.com/office/drawing/2014/main" id="{6E65B944-7B2F-84B2-2487-225E8BCF435F}"/>
              </a:ext>
            </a:extLst>
          </p:cNvPr>
          <p:cNvSpPr/>
          <p:nvPr/>
        </p:nvSpPr>
        <p:spPr>
          <a:xfrm>
            <a:off x="5271608" y="2087755"/>
            <a:ext cx="1863132" cy="1193758"/>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solidFill>
              </a:rPr>
              <a:t>Is page present?</a:t>
            </a:r>
          </a:p>
        </p:txBody>
      </p:sp>
      <p:sp>
        <p:nvSpPr>
          <p:cNvPr id="14" name="Flowchart: Alternate Process 13">
            <a:extLst>
              <a:ext uri="{FF2B5EF4-FFF2-40B4-BE49-F238E27FC236}">
                <a16:creationId xmlns:a16="http://schemas.microsoft.com/office/drawing/2014/main" id="{FAD8AD75-1808-8687-3CC4-92CDB266E284}"/>
              </a:ext>
            </a:extLst>
          </p:cNvPr>
          <p:cNvSpPr/>
          <p:nvPr/>
        </p:nvSpPr>
        <p:spPr>
          <a:xfrm>
            <a:off x="3581896" y="3460608"/>
            <a:ext cx="1689712" cy="4914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solidFill>
              </a:rPr>
              <a:t>YES</a:t>
            </a:r>
          </a:p>
          <a:p>
            <a:pPr algn="ctr"/>
            <a:r>
              <a:rPr lang="en-IN" sz="1400" dirty="0">
                <a:solidFill>
                  <a:schemeClr val="bg1"/>
                </a:solidFill>
              </a:rPr>
              <a:t>PAGE HIT</a:t>
            </a:r>
            <a:endParaRPr lang="en-IN" sz="1400" dirty="0"/>
          </a:p>
        </p:txBody>
      </p:sp>
      <p:sp>
        <p:nvSpPr>
          <p:cNvPr id="16" name="Flowchart: Alternate Process 15">
            <a:extLst>
              <a:ext uri="{FF2B5EF4-FFF2-40B4-BE49-F238E27FC236}">
                <a16:creationId xmlns:a16="http://schemas.microsoft.com/office/drawing/2014/main" id="{6F0C9E01-2BDB-EB7F-D0A8-DD3AFBD23AEB}"/>
              </a:ext>
            </a:extLst>
          </p:cNvPr>
          <p:cNvSpPr/>
          <p:nvPr/>
        </p:nvSpPr>
        <p:spPr>
          <a:xfrm>
            <a:off x="7048030" y="3558239"/>
            <a:ext cx="1689712" cy="4914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solidFill>
              </a:rPr>
              <a:t>NO PAGE FAULT</a:t>
            </a:r>
          </a:p>
        </p:txBody>
      </p:sp>
      <p:sp>
        <p:nvSpPr>
          <p:cNvPr id="18" name="Flowchart: Alternate Process 17">
            <a:extLst>
              <a:ext uri="{FF2B5EF4-FFF2-40B4-BE49-F238E27FC236}">
                <a16:creationId xmlns:a16="http://schemas.microsoft.com/office/drawing/2014/main" id="{76616398-F23B-204E-FC40-3725D6C9D46E}"/>
              </a:ext>
            </a:extLst>
          </p:cNvPr>
          <p:cNvSpPr/>
          <p:nvPr/>
        </p:nvSpPr>
        <p:spPr>
          <a:xfrm>
            <a:off x="3561432" y="4436359"/>
            <a:ext cx="1689712" cy="4914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solidFill>
              </a:rPr>
              <a:t>Update Recent Usage </a:t>
            </a:r>
          </a:p>
        </p:txBody>
      </p:sp>
      <p:sp>
        <p:nvSpPr>
          <p:cNvPr id="20" name="Flowchart: Alternate Process 19">
            <a:extLst>
              <a:ext uri="{FF2B5EF4-FFF2-40B4-BE49-F238E27FC236}">
                <a16:creationId xmlns:a16="http://schemas.microsoft.com/office/drawing/2014/main" id="{3A2132FC-E023-D807-369F-1231BB8A0DFF}"/>
              </a:ext>
            </a:extLst>
          </p:cNvPr>
          <p:cNvSpPr/>
          <p:nvPr/>
        </p:nvSpPr>
        <p:spPr>
          <a:xfrm>
            <a:off x="3612828" y="5267104"/>
            <a:ext cx="1689712" cy="4914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solidFill>
              </a:rPr>
              <a:t>Insert New Page</a:t>
            </a:r>
          </a:p>
        </p:txBody>
      </p:sp>
      <p:sp>
        <p:nvSpPr>
          <p:cNvPr id="22" name="Flowchart: Alternate Process 21">
            <a:extLst>
              <a:ext uri="{FF2B5EF4-FFF2-40B4-BE49-F238E27FC236}">
                <a16:creationId xmlns:a16="http://schemas.microsoft.com/office/drawing/2014/main" id="{235C47CD-4ED7-4E7E-41EF-EB23400D983E}"/>
              </a:ext>
            </a:extLst>
          </p:cNvPr>
          <p:cNvSpPr/>
          <p:nvPr/>
        </p:nvSpPr>
        <p:spPr>
          <a:xfrm>
            <a:off x="5424564" y="5946300"/>
            <a:ext cx="1689712" cy="43418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solidFill>
              </a:rPr>
              <a:t>Process Next Page / END</a:t>
            </a:r>
          </a:p>
        </p:txBody>
      </p:sp>
      <p:sp>
        <p:nvSpPr>
          <p:cNvPr id="26" name="Flowchart: Decision 25">
            <a:extLst>
              <a:ext uri="{FF2B5EF4-FFF2-40B4-BE49-F238E27FC236}">
                <a16:creationId xmlns:a16="http://schemas.microsoft.com/office/drawing/2014/main" id="{729E5173-E4ED-AE88-D76C-828A3751B118}"/>
              </a:ext>
            </a:extLst>
          </p:cNvPr>
          <p:cNvSpPr/>
          <p:nvPr/>
        </p:nvSpPr>
        <p:spPr>
          <a:xfrm>
            <a:off x="6964487" y="4338571"/>
            <a:ext cx="1863132" cy="1193758"/>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Empty Frame</a:t>
            </a:r>
          </a:p>
          <a:p>
            <a:pPr algn="ctr"/>
            <a:r>
              <a:rPr lang="en-IN" sz="1200" dirty="0">
                <a:solidFill>
                  <a:schemeClr val="bg1"/>
                </a:solidFill>
              </a:rPr>
              <a:t>Available?</a:t>
            </a:r>
          </a:p>
        </p:txBody>
      </p:sp>
      <p:sp>
        <p:nvSpPr>
          <p:cNvPr id="28" name="Flowchart: Alternate Process 27">
            <a:extLst>
              <a:ext uri="{FF2B5EF4-FFF2-40B4-BE49-F238E27FC236}">
                <a16:creationId xmlns:a16="http://schemas.microsoft.com/office/drawing/2014/main" id="{49469C39-8CD8-B602-D673-2967236F4473}"/>
              </a:ext>
            </a:extLst>
          </p:cNvPr>
          <p:cNvSpPr/>
          <p:nvPr/>
        </p:nvSpPr>
        <p:spPr>
          <a:xfrm>
            <a:off x="9644710" y="4689701"/>
            <a:ext cx="1689712" cy="49149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bg1"/>
                </a:solidFill>
              </a:rPr>
              <a:t>Find and Replace LRU Page</a:t>
            </a:r>
            <a:endParaRPr lang="en-IN" dirty="0">
              <a:solidFill>
                <a:schemeClr val="bg1"/>
              </a:solidFill>
            </a:endParaRPr>
          </a:p>
        </p:txBody>
      </p:sp>
      <p:cxnSp>
        <p:nvCxnSpPr>
          <p:cNvPr id="30" name="Straight Arrow Connector 29">
            <a:extLst>
              <a:ext uri="{FF2B5EF4-FFF2-40B4-BE49-F238E27FC236}">
                <a16:creationId xmlns:a16="http://schemas.microsoft.com/office/drawing/2014/main" id="{B83677CA-BD7F-13CD-6EF8-A29A19BDDB98}"/>
              </a:ext>
            </a:extLst>
          </p:cNvPr>
          <p:cNvCxnSpPr>
            <a:stCxn id="4" idx="3"/>
            <a:endCxn id="10" idx="1"/>
          </p:cNvCxnSpPr>
          <p:nvPr/>
        </p:nvCxnSpPr>
        <p:spPr>
          <a:xfrm>
            <a:off x="2216982" y="1534630"/>
            <a:ext cx="533826" cy="9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6B385BF-4F62-0307-5E7E-BD246DC67551}"/>
              </a:ext>
            </a:extLst>
          </p:cNvPr>
          <p:cNvCxnSpPr>
            <a:stCxn id="10" idx="3"/>
            <a:endCxn id="12" idx="1"/>
          </p:cNvCxnSpPr>
          <p:nvPr/>
        </p:nvCxnSpPr>
        <p:spPr>
          <a:xfrm>
            <a:off x="4457684" y="1544223"/>
            <a:ext cx="719330" cy="7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D15BE21-437D-F3E6-3FF8-FDA32FA47ADA}"/>
              </a:ext>
            </a:extLst>
          </p:cNvPr>
          <p:cNvCxnSpPr>
            <a:stCxn id="12" idx="2"/>
          </p:cNvCxnSpPr>
          <p:nvPr/>
        </p:nvCxnSpPr>
        <p:spPr>
          <a:xfrm>
            <a:off x="6203174" y="1797944"/>
            <a:ext cx="0" cy="213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3C8FA56A-2272-544D-4F86-9A8B1A671A2D}"/>
              </a:ext>
            </a:extLst>
          </p:cNvPr>
          <p:cNvCxnSpPr>
            <a:cxnSpLocks/>
            <a:stCxn id="13" idx="1"/>
          </p:cNvCxnSpPr>
          <p:nvPr/>
        </p:nvCxnSpPr>
        <p:spPr>
          <a:xfrm rot="10800000" flipV="1">
            <a:off x="4420402" y="2684633"/>
            <a:ext cx="851206" cy="806151"/>
          </a:xfrm>
          <a:prstGeom prst="bentConnector3">
            <a:avLst>
              <a:gd name="adj1" fmla="val 10013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2995F73B-2890-081D-9277-0FDEB5E2E8CC}"/>
              </a:ext>
            </a:extLst>
          </p:cNvPr>
          <p:cNvCxnSpPr>
            <a:stCxn id="13" idx="3"/>
            <a:endCxn id="16" idx="0"/>
          </p:cNvCxnSpPr>
          <p:nvPr/>
        </p:nvCxnSpPr>
        <p:spPr>
          <a:xfrm>
            <a:off x="7134740" y="2684634"/>
            <a:ext cx="758146" cy="8736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838625A-9FB5-853C-B314-7C3E78EB0571}"/>
              </a:ext>
            </a:extLst>
          </p:cNvPr>
          <p:cNvCxnSpPr>
            <a:cxnSpLocks/>
          </p:cNvCxnSpPr>
          <p:nvPr/>
        </p:nvCxnSpPr>
        <p:spPr>
          <a:xfrm>
            <a:off x="4433904" y="3952106"/>
            <a:ext cx="0" cy="366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C49094C-47E4-07C7-8EEE-96279F8977CF}"/>
              </a:ext>
            </a:extLst>
          </p:cNvPr>
          <p:cNvCxnSpPr/>
          <p:nvPr/>
        </p:nvCxnSpPr>
        <p:spPr>
          <a:xfrm>
            <a:off x="4426752" y="4927857"/>
            <a:ext cx="0" cy="366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F650701-FBEE-5D66-B354-36E337765440}"/>
              </a:ext>
            </a:extLst>
          </p:cNvPr>
          <p:cNvCxnSpPr>
            <a:stCxn id="16" idx="2"/>
          </p:cNvCxnSpPr>
          <p:nvPr/>
        </p:nvCxnSpPr>
        <p:spPr>
          <a:xfrm>
            <a:off x="7892886" y="4049737"/>
            <a:ext cx="0" cy="2693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C8EAA32-BC10-B2CD-265B-5FAAB04D7B09}"/>
              </a:ext>
            </a:extLst>
          </p:cNvPr>
          <p:cNvCxnSpPr>
            <a:stCxn id="26" idx="3"/>
          </p:cNvCxnSpPr>
          <p:nvPr/>
        </p:nvCxnSpPr>
        <p:spPr>
          <a:xfrm>
            <a:off x="8827619" y="4935450"/>
            <a:ext cx="6923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4B1BE6A-7738-7D9A-2ABC-CE1540BB71A0}"/>
              </a:ext>
            </a:extLst>
          </p:cNvPr>
          <p:cNvCxnSpPr>
            <a:stCxn id="20" idx="3"/>
            <a:endCxn id="22" idx="0"/>
          </p:cNvCxnSpPr>
          <p:nvPr/>
        </p:nvCxnSpPr>
        <p:spPr>
          <a:xfrm>
            <a:off x="5302540" y="5512853"/>
            <a:ext cx="966880" cy="43344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5A36EEEF-439D-9535-EC05-C800CB4D8E9B}"/>
              </a:ext>
            </a:extLst>
          </p:cNvPr>
          <p:cNvCxnSpPr>
            <a:stCxn id="28" idx="2"/>
            <a:endCxn id="22" idx="3"/>
          </p:cNvCxnSpPr>
          <p:nvPr/>
        </p:nvCxnSpPr>
        <p:spPr>
          <a:xfrm rot="5400000">
            <a:off x="8310826" y="3984649"/>
            <a:ext cx="982191" cy="33752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53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BC98-DE4F-555E-46AA-347DC9933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A1AF8-26FF-B943-EFCE-DDB77B3DA106}"/>
              </a:ext>
            </a:extLst>
          </p:cNvPr>
          <p:cNvSpPr>
            <a:spLocks noGrp="1"/>
          </p:cNvSpPr>
          <p:nvPr>
            <p:ph type="title"/>
          </p:nvPr>
        </p:nvSpPr>
        <p:spPr>
          <a:xfrm>
            <a:off x="3818848" y="183067"/>
            <a:ext cx="3932903" cy="896469"/>
          </a:xfrm>
        </p:spPr>
        <p:txBody>
          <a:bodyPr/>
          <a:lstStyle/>
          <a:p>
            <a:pPr lvl="0"/>
            <a:r>
              <a:rPr lang="en-US" sz="3200" noProof="0" dirty="0"/>
              <a:t>Sample example</a:t>
            </a:r>
          </a:p>
        </p:txBody>
      </p:sp>
      <p:sp>
        <p:nvSpPr>
          <p:cNvPr id="3" name="Subtitle 2">
            <a:extLst>
              <a:ext uri="{FF2B5EF4-FFF2-40B4-BE49-F238E27FC236}">
                <a16:creationId xmlns:a16="http://schemas.microsoft.com/office/drawing/2014/main" id="{396300A2-6E9E-7E23-E3C1-4D4BD6746D24}"/>
              </a:ext>
            </a:extLst>
          </p:cNvPr>
          <p:cNvSpPr>
            <a:spLocks noGrp="1"/>
          </p:cNvSpPr>
          <p:nvPr>
            <p:ph type="subTitle" idx="1"/>
          </p:nvPr>
        </p:nvSpPr>
        <p:spPr>
          <a:xfrm>
            <a:off x="2058874" y="3217708"/>
            <a:ext cx="7452852" cy="896468"/>
          </a:xfrm>
        </p:spPr>
        <p:txBody>
          <a:bodyPr>
            <a:normAutofit fontScale="92500" lnSpcReduction="10000"/>
          </a:bodyPr>
          <a:lstStyle/>
          <a:p>
            <a:pPr lvl="0"/>
            <a:endParaRPr lang="en-IN" sz="5600" dirty="0"/>
          </a:p>
          <a:p>
            <a:pPr lvl="0"/>
            <a:endParaRPr lang="en-US" noProof="0" dirty="0"/>
          </a:p>
        </p:txBody>
      </p:sp>
      <p:sp>
        <p:nvSpPr>
          <p:cNvPr id="6" name="TextBox 5">
            <a:extLst>
              <a:ext uri="{FF2B5EF4-FFF2-40B4-BE49-F238E27FC236}">
                <a16:creationId xmlns:a16="http://schemas.microsoft.com/office/drawing/2014/main" id="{0BDA13F6-663A-5B84-5AAD-D1A0721FCBEB}"/>
              </a:ext>
            </a:extLst>
          </p:cNvPr>
          <p:cNvSpPr txBox="1"/>
          <p:nvPr/>
        </p:nvSpPr>
        <p:spPr>
          <a:xfrm>
            <a:off x="805095" y="1357618"/>
            <a:ext cx="6096000" cy="5078313"/>
          </a:xfrm>
          <a:prstGeom prst="rect">
            <a:avLst/>
          </a:prstGeom>
          <a:noFill/>
        </p:spPr>
        <p:txBody>
          <a:bodyPr wrap="square">
            <a:spAutoFit/>
          </a:bodyPr>
          <a:lstStyle/>
          <a:p>
            <a:pPr>
              <a:buNone/>
            </a:pPr>
            <a:r>
              <a:rPr lang="en-IN" b="1" dirty="0"/>
              <a:t>Sample Input</a:t>
            </a:r>
          </a:p>
          <a:p>
            <a:pPr marL="342900" lvl="0" indent="-342900">
              <a:buFont typeface="Arial" panose="020B0604020202020204" pitchFamily="34" charset="0"/>
              <a:buChar char="•"/>
            </a:pPr>
            <a:r>
              <a:rPr lang="en-IN" b="1" dirty="0"/>
              <a:t>Reference string:</a:t>
            </a:r>
            <a:r>
              <a:rPr lang="en-IN" dirty="0"/>
              <a:t> </a:t>
            </a:r>
            <a:r>
              <a:rPr lang="en-IN" dirty="0">
                <a:latin typeface="+mn-lt"/>
              </a:rPr>
              <a:t>1 2 3 1 4 </a:t>
            </a:r>
            <a:endParaRPr lang="en-IN" dirty="0"/>
          </a:p>
          <a:p>
            <a:pPr marL="342900" lvl="0" indent="-342900">
              <a:buFont typeface="Arial" panose="020B0604020202020204" pitchFamily="34" charset="0"/>
              <a:buChar char="•"/>
            </a:pPr>
            <a:r>
              <a:rPr lang="en-IN" b="1" dirty="0"/>
              <a:t>Number of frames:</a:t>
            </a:r>
            <a:r>
              <a:rPr lang="en-IN" dirty="0"/>
              <a:t> 3</a:t>
            </a:r>
          </a:p>
          <a:p>
            <a:pPr>
              <a:buNone/>
            </a:pPr>
            <a:r>
              <a:rPr lang="en-IN" b="1" dirty="0"/>
              <a:t>Step-by-step LRU Working</a:t>
            </a:r>
          </a:p>
          <a:p>
            <a:pPr>
              <a:buNone/>
            </a:pPr>
            <a:endParaRPr lang="en-IN" b="1" dirty="0"/>
          </a:p>
          <a:p>
            <a:pPr>
              <a:buNone/>
            </a:pPr>
            <a:endParaRPr lang="en-IN" b="1" dirty="0"/>
          </a:p>
          <a:p>
            <a:pPr>
              <a:buNone/>
            </a:pPr>
            <a:endParaRPr lang="en-IN" b="1" dirty="0"/>
          </a:p>
          <a:p>
            <a:pPr>
              <a:buNone/>
            </a:pPr>
            <a:endParaRPr lang="en-IN" b="1" dirty="0"/>
          </a:p>
          <a:p>
            <a:pPr>
              <a:buNone/>
            </a:pPr>
            <a:endParaRPr lang="en-IN" b="1" dirty="0"/>
          </a:p>
          <a:p>
            <a:pPr>
              <a:buNone/>
            </a:pPr>
            <a:endParaRPr lang="en-IN" b="1" dirty="0"/>
          </a:p>
          <a:p>
            <a:pPr>
              <a:buNone/>
            </a:pPr>
            <a:endParaRPr lang="en-IN" b="1" dirty="0"/>
          </a:p>
          <a:p>
            <a:pPr>
              <a:buNone/>
            </a:pPr>
            <a:endParaRPr lang="en-IN" b="1" dirty="0"/>
          </a:p>
          <a:p>
            <a:pPr>
              <a:buNone/>
            </a:pPr>
            <a:endParaRPr lang="en-IN" b="1" dirty="0"/>
          </a:p>
          <a:p>
            <a:pPr>
              <a:buNone/>
            </a:pPr>
            <a:endParaRPr lang="en-IN" b="1" dirty="0"/>
          </a:p>
          <a:p>
            <a:pPr>
              <a:buNone/>
            </a:pPr>
            <a:endParaRPr lang="en-IN" b="1" dirty="0"/>
          </a:p>
          <a:p>
            <a:pPr>
              <a:buNone/>
            </a:pPr>
            <a:r>
              <a:rPr lang="en-IN" b="1" dirty="0"/>
              <a:t>Final Result</a:t>
            </a:r>
          </a:p>
          <a:p>
            <a:pPr rtl="0">
              <a:buNone/>
            </a:pPr>
            <a:r>
              <a:rPr lang="en-IN" dirty="0">
                <a:latin typeface="+mn-lt"/>
              </a:rPr>
              <a:t>Total Page Hits   = 1</a:t>
            </a:r>
          </a:p>
          <a:p>
            <a:pPr rtl="0">
              <a:buNone/>
            </a:pPr>
            <a:r>
              <a:rPr lang="en-IN" dirty="0">
                <a:latin typeface="+mn-lt"/>
              </a:rPr>
              <a:t>Total Page Faults = 7</a:t>
            </a:r>
            <a:endParaRPr lang="en-IN" dirty="0">
              <a:latin typeface="Courier New" panose="02070309020205020404" pitchFamily="49" charset="0"/>
            </a:endParaRPr>
          </a:p>
        </p:txBody>
      </p:sp>
      <p:graphicFrame>
        <p:nvGraphicFramePr>
          <p:cNvPr id="12" name="Table 11">
            <a:extLst>
              <a:ext uri="{FF2B5EF4-FFF2-40B4-BE49-F238E27FC236}">
                <a16:creationId xmlns:a16="http://schemas.microsoft.com/office/drawing/2014/main" id="{478EEB4B-DA17-8806-3D36-8358683116A1}"/>
              </a:ext>
            </a:extLst>
          </p:cNvPr>
          <p:cNvGraphicFramePr>
            <a:graphicFrameLocks noGrp="1"/>
          </p:cNvGraphicFramePr>
          <p:nvPr>
            <p:extLst>
              <p:ext uri="{D42A27DB-BD31-4B8C-83A1-F6EECF244321}">
                <p14:modId xmlns:p14="http://schemas.microsoft.com/office/powerpoint/2010/main" val="919710843"/>
              </p:ext>
            </p:extLst>
          </p:nvPr>
        </p:nvGraphicFramePr>
        <p:xfrm>
          <a:off x="823680" y="2799494"/>
          <a:ext cx="10563225" cy="2194560"/>
        </p:xfrm>
        <a:graphic>
          <a:graphicData uri="http://schemas.openxmlformats.org/drawingml/2006/table">
            <a:tbl>
              <a:tblPr>
                <a:tableStyleId>{1E171933-4619-4E11-9A3F-F7608DF75F80}</a:tableStyleId>
              </a:tblPr>
              <a:tblGrid>
                <a:gridCol w="3521075">
                  <a:extLst>
                    <a:ext uri="{9D8B030D-6E8A-4147-A177-3AD203B41FA5}">
                      <a16:colId xmlns:a16="http://schemas.microsoft.com/office/drawing/2014/main" val="343293331"/>
                    </a:ext>
                  </a:extLst>
                </a:gridCol>
                <a:gridCol w="3521075">
                  <a:extLst>
                    <a:ext uri="{9D8B030D-6E8A-4147-A177-3AD203B41FA5}">
                      <a16:colId xmlns:a16="http://schemas.microsoft.com/office/drawing/2014/main" val="1351407336"/>
                    </a:ext>
                  </a:extLst>
                </a:gridCol>
                <a:gridCol w="3521075">
                  <a:extLst>
                    <a:ext uri="{9D8B030D-6E8A-4147-A177-3AD203B41FA5}">
                      <a16:colId xmlns:a16="http://schemas.microsoft.com/office/drawing/2014/main" val="1426839533"/>
                    </a:ext>
                  </a:extLst>
                </a:gridCol>
              </a:tblGrid>
              <a:tr h="0">
                <a:tc>
                  <a:txBody>
                    <a:bodyPr/>
                    <a:lstStyle/>
                    <a:p>
                      <a:pPr>
                        <a:buNone/>
                      </a:pPr>
                      <a:r>
                        <a:rPr lang="en-IN"/>
                        <a:t>Page</a:t>
                      </a:r>
                    </a:p>
                  </a:txBody>
                  <a:tcPr anchor="ctr"/>
                </a:tc>
                <a:tc>
                  <a:txBody>
                    <a:bodyPr/>
                    <a:lstStyle/>
                    <a:p>
                      <a:pPr>
                        <a:buNone/>
                      </a:pPr>
                      <a:r>
                        <a:rPr lang="en-IN" dirty="0"/>
                        <a:t>Result</a:t>
                      </a:r>
                    </a:p>
                  </a:txBody>
                  <a:tcPr anchor="ctr"/>
                </a:tc>
                <a:tc>
                  <a:txBody>
                    <a:bodyPr/>
                    <a:lstStyle/>
                    <a:p>
                      <a:pPr>
                        <a:buNone/>
                      </a:pPr>
                      <a:r>
                        <a:rPr lang="en-IN"/>
                        <a:t>Frames</a:t>
                      </a:r>
                    </a:p>
                  </a:txBody>
                  <a:tcPr anchor="ctr"/>
                </a:tc>
                <a:extLst>
                  <a:ext uri="{0D108BD9-81ED-4DB2-BD59-A6C34878D82A}">
                    <a16:rowId xmlns:a16="http://schemas.microsoft.com/office/drawing/2014/main" val="4277639736"/>
                  </a:ext>
                </a:extLst>
              </a:tr>
              <a:tr h="0">
                <a:tc>
                  <a:txBody>
                    <a:bodyPr/>
                    <a:lstStyle/>
                    <a:p>
                      <a:pPr>
                        <a:buNone/>
                      </a:pPr>
                      <a:r>
                        <a:rPr lang="en-IN"/>
                        <a:t>1</a:t>
                      </a:r>
                    </a:p>
                  </a:txBody>
                  <a:tcPr anchor="ctr"/>
                </a:tc>
                <a:tc>
                  <a:txBody>
                    <a:bodyPr/>
                    <a:lstStyle/>
                    <a:p>
                      <a:pPr>
                        <a:buNone/>
                      </a:pPr>
                      <a:r>
                        <a:rPr lang="en-IN"/>
                        <a:t>Page Fault</a:t>
                      </a:r>
                    </a:p>
                  </a:txBody>
                  <a:tcPr anchor="ctr"/>
                </a:tc>
                <a:tc>
                  <a:txBody>
                    <a:bodyPr/>
                    <a:lstStyle/>
                    <a:p>
                      <a:pPr>
                        <a:buNone/>
                      </a:pPr>
                      <a:r>
                        <a:rPr lang="en-IN" dirty="0"/>
                        <a:t>1 - -     , </a:t>
                      </a:r>
                      <a:r>
                        <a:rPr lang="en-IN" sz="1400" dirty="0"/>
                        <a:t>1 is not in memory so, insert</a:t>
                      </a:r>
                    </a:p>
                  </a:txBody>
                  <a:tcPr anchor="ctr"/>
                </a:tc>
                <a:extLst>
                  <a:ext uri="{0D108BD9-81ED-4DB2-BD59-A6C34878D82A}">
                    <a16:rowId xmlns:a16="http://schemas.microsoft.com/office/drawing/2014/main" val="2239591835"/>
                  </a:ext>
                </a:extLst>
              </a:tr>
              <a:tr h="0">
                <a:tc>
                  <a:txBody>
                    <a:bodyPr/>
                    <a:lstStyle/>
                    <a:p>
                      <a:pPr>
                        <a:buNone/>
                      </a:pPr>
                      <a:r>
                        <a:rPr lang="en-IN"/>
                        <a:t>2</a:t>
                      </a:r>
                    </a:p>
                  </a:txBody>
                  <a:tcPr anchor="ctr"/>
                </a:tc>
                <a:tc>
                  <a:txBody>
                    <a:bodyPr/>
                    <a:lstStyle/>
                    <a:p>
                      <a:pPr>
                        <a:buNone/>
                      </a:pPr>
                      <a:r>
                        <a:rPr lang="en-IN"/>
                        <a:t>Page Fault</a:t>
                      </a:r>
                    </a:p>
                  </a:txBody>
                  <a:tcPr anchor="ctr"/>
                </a:tc>
                <a:tc>
                  <a:txBody>
                    <a:bodyPr/>
                    <a:lstStyle/>
                    <a:p>
                      <a:pPr>
                        <a:buNone/>
                      </a:pPr>
                      <a:r>
                        <a:rPr lang="en-IN" dirty="0"/>
                        <a:t>1 2 -    , </a:t>
                      </a:r>
                      <a:r>
                        <a:rPr lang="en-IN" sz="1400" dirty="0"/>
                        <a:t>2 is not in memory so, insert </a:t>
                      </a:r>
                    </a:p>
                  </a:txBody>
                  <a:tcPr anchor="ctr"/>
                </a:tc>
                <a:extLst>
                  <a:ext uri="{0D108BD9-81ED-4DB2-BD59-A6C34878D82A}">
                    <a16:rowId xmlns:a16="http://schemas.microsoft.com/office/drawing/2014/main" val="3800777148"/>
                  </a:ext>
                </a:extLst>
              </a:tr>
              <a:tr h="0">
                <a:tc>
                  <a:txBody>
                    <a:bodyPr/>
                    <a:lstStyle/>
                    <a:p>
                      <a:pPr>
                        <a:buNone/>
                      </a:pPr>
                      <a:r>
                        <a:rPr lang="en-IN"/>
                        <a:t>3</a:t>
                      </a:r>
                    </a:p>
                  </a:txBody>
                  <a:tcPr anchor="ctr"/>
                </a:tc>
                <a:tc>
                  <a:txBody>
                    <a:bodyPr/>
                    <a:lstStyle/>
                    <a:p>
                      <a:pPr>
                        <a:buNone/>
                      </a:pPr>
                      <a:r>
                        <a:rPr lang="en-IN"/>
                        <a:t>Page Fault</a:t>
                      </a:r>
                    </a:p>
                  </a:txBody>
                  <a:tcPr anchor="ctr"/>
                </a:tc>
                <a:tc>
                  <a:txBody>
                    <a:bodyPr/>
                    <a:lstStyle/>
                    <a:p>
                      <a:pPr>
                        <a:buNone/>
                      </a:pPr>
                      <a:r>
                        <a:rPr lang="en-IN" dirty="0"/>
                        <a:t>1 2 3    , </a:t>
                      </a:r>
                      <a:r>
                        <a:rPr lang="en-IN" sz="1400" dirty="0"/>
                        <a:t>3 is not in memory so insert</a:t>
                      </a:r>
                    </a:p>
                  </a:txBody>
                  <a:tcPr anchor="ctr"/>
                </a:tc>
                <a:extLst>
                  <a:ext uri="{0D108BD9-81ED-4DB2-BD59-A6C34878D82A}">
                    <a16:rowId xmlns:a16="http://schemas.microsoft.com/office/drawing/2014/main" val="2034712284"/>
                  </a:ext>
                </a:extLst>
              </a:tr>
              <a:tr h="0">
                <a:tc>
                  <a:txBody>
                    <a:bodyPr/>
                    <a:lstStyle/>
                    <a:p>
                      <a:pPr>
                        <a:buNone/>
                      </a:pPr>
                      <a:r>
                        <a:rPr lang="en-IN"/>
                        <a:t>1</a:t>
                      </a:r>
                    </a:p>
                  </a:txBody>
                  <a:tcPr anchor="ctr"/>
                </a:tc>
                <a:tc>
                  <a:txBody>
                    <a:bodyPr/>
                    <a:lstStyle/>
                    <a:p>
                      <a:pPr>
                        <a:buNone/>
                      </a:pPr>
                      <a:r>
                        <a:rPr lang="en-IN"/>
                        <a:t>Page Hit</a:t>
                      </a:r>
                    </a:p>
                  </a:txBody>
                  <a:tcPr anchor="ctr"/>
                </a:tc>
                <a:tc>
                  <a:txBody>
                    <a:bodyPr/>
                    <a:lstStyle/>
                    <a:p>
                      <a:pPr>
                        <a:buNone/>
                      </a:pPr>
                      <a:r>
                        <a:rPr lang="en-IN" dirty="0"/>
                        <a:t>1 2 3    , </a:t>
                      </a:r>
                      <a:r>
                        <a:rPr lang="en-IN" sz="1400" dirty="0"/>
                        <a:t>1 is LRU so replace with 1</a:t>
                      </a:r>
                    </a:p>
                  </a:txBody>
                  <a:tcPr anchor="ctr"/>
                </a:tc>
                <a:extLst>
                  <a:ext uri="{0D108BD9-81ED-4DB2-BD59-A6C34878D82A}">
                    <a16:rowId xmlns:a16="http://schemas.microsoft.com/office/drawing/2014/main" val="3483658206"/>
                  </a:ext>
                </a:extLst>
              </a:tr>
              <a:tr h="0">
                <a:tc>
                  <a:txBody>
                    <a:bodyPr/>
                    <a:lstStyle/>
                    <a:p>
                      <a:pPr>
                        <a:buNone/>
                      </a:pPr>
                      <a:r>
                        <a:rPr lang="en-IN"/>
                        <a:t>4</a:t>
                      </a:r>
                    </a:p>
                  </a:txBody>
                  <a:tcPr anchor="ctr"/>
                </a:tc>
                <a:tc>
                  <a:txBody>
                    <a:bodyPr/>
                    <a:lstStyle/>
                    <a:p>
                      <a:pPr>
                        <a:buNone/>
                      </a:pPr>
                      <a:r>
                        <a:rPr lang="en-IN"/>
                        <a:t>Page Fault</a:t>
                      </a:r>
                    </a:p>
                  </a:txBody>
                  <a:tcPr anchor="ctr"/>
                </a:tc>
                <a:tc>
                  <a:txBody>
                    <a:bodyPr/>
                    <a:lstStyle/>
                    <a:p>
                      <a:pPr>
                        <a:buNone/>
                      </a:pPr>
                      <a:r>
                        <a:rPr lang="en-IN" dirty="0"/>
                        <a:t>1 4 3     ,</a:t>
                      </a:r>
                      <a:r>
                        <a:rPr lang="en-IN" sz="1400" dirty="0"/>
                        <a:t>2 is LRU so replace with 4</a:t>
                      </a:r>
                    </a:p>
                  </a:txBody>
                  <a:tcPr anchor="ctr"/>
                </a:tc>
                <a:extLst>
                  <a:ext uri="{0D108BD9-81ED-4DB2-BD59-A6C34878D82A}">
                    <a16:rowId xmlns:a16="http://schemas.microsoft.com/office/drawing/2014/main" val="3559131033"/>
                  </a:ext>
                </a:extLst>
              </a:tr>
            </a:tbl>
          </a:graphicData>
        </a:graphic>
      </p:graphicFrame>
    </p:spTree>
    <p:extLst>
      <p:ext uri="{BB962C8B-B14F-4D97-AF65-F5344CB8AC3E}">
        <p14:creationId xmlns:p14="http://schemas.microsoft.com/office/powerpoint/2010/main" val="324095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601055" y="2066405"/>
            <a:ext cx="3990110" cy="2192482"/>
          </a:xfrm>
        </p:spPr>
        <p:txBody>
          <a:bodyPr/>
          <a:lstStyle/>
          <a:p>
            <a:r>
              <a:rPr lang="en-US" dirty="0"/>
              <a:t>Test Case</a:t>
            </a:r>
          </a:p>
        </p:txBody>
      </p:sp>
      <p:sp>
        <p:nvSpPr>
          <p:cNvPr id="8" name="TextBox 7">
            <a:extLst>
              <a:ext uri="{FF2B5EF4-FFF2-40B4-BE49-F238E27FC236}">
                <a16:creationId xmlns:a16="http://schemas.microsoft.com/office/drawing/2014/main" id="{41736692-C84D-CA57-54B8-1467829EAD2D}"/>
              </a:ext>
            </a:extLst>
          </p:cNvPr>
          <p:cNvSpPr txBox="1"/>
          <p:nvPr/>
        </p:nvSpPr>
        <p:spPr>
          <a:xfrm>
            <a:off x="4927600" y="558800"/>
            <a:ext cx="3990110" cy="2462213"/>
          </a:xfrm>
          <a:prstGeom prst="rect">
            <a:avLst/>
          </a:prstGeom>
          <a:noFill/>
        </p:spPr>
        <p:txBody>
          <a:bodyPr wrap="square" rtlCol="0">
            <a:spAutoFit/>
          </a:bodyPr>
          <a:lstStyle/>
          <a:p>
            <a:r>
              <a:rPr lang="en-IN" sz="1400" dirty="0"/>
              <a:t>Test Case 1 — Page Hit + LRU Replacement</a:t>
            </a:r>
          </a:p>
          <a:p>
            <a:endParaRPr lang="en-IN" sz="1400" dirty="0"/>
          </a:p>
          <a:p>
            <a:r>
              <a:rPr lang="en-IN" sz="1400" dirty="0"/>
              <a:t>Input:</a:t>
            </a:r>
          </a:p>
          <a:p>
            <a:r>
              <a:rPr lang="en-US" sz="1400" dirty="0"/>
              <a:t>Number of pages: 4</a:t>
            </a:r>
          </a:p>
          <a:p>
            <a:r>
              <a:rPr lang="en-US" sz="1400" dirty="0"/>
              <a:t>Reference string: 1 2 3 1 </a:t>
            </a:r>
          </a:p>
          <a:p>
            <a:r>
              <a:rPr lang="en-US" sz="1400" dirty="0"/>
              <a:t>Number of frames: 3</a:t>
            </a:r>
          </a:p>
          <a:p>
            <a:endParaRPr lang="en-US" sz="1400" dirty="0"/>
          </a:p>
          <a:p>
            <a:endParaRPr lang="en-US" sz="1400" dirty="0"/>
          </a:p>
          <a:p>
            <a:r>
              <a:rPr lang="en-US" sz="1400" dirty="0"/>
              <a:t>Output: </a:t>
            </a:r>
            <a:endParaRPr lang="en-IN" sz="1400" dirty="0"/>
          </a:p>
          <a:p>
            <a:r>
              <a:rPr lang="en-IN" sz="1400" dirty="0"/>
              <a:t>Page Hit = 1</a:t>
            </a:r>
          </a:p>
          <a:p>
            <a:r>
              <a:rPr lang="en-IN" sz="1400" dirty="0"/>
              <a:t>Page Fault = 3</a:t>
            </a:r>
            <a:endParaRPr lang="en-US" sz="1400" dirty="0"/>
          </a:p>
        </p:txBody>
      </p:sp>
      <p:graphicFrame>
        <p:nvGraphicFramePr>
          <p:cNvPr id="9" name="Table 8">
            <a:extLst>
              <a:ext uri="{FF2B5EF4-FFF2-40B4-BE49-F238E27FC236}">
                <a16:creationId xmlns:a16="http://schemas.microsoft.com/office/drawing/2014/main" id="{67D600EF-894E-848A-A529-5DFEB0DA1DE2}"/>
              </a:ext>
            </a:extLst>
          </p:cNvPr>
          <p:cNvGraphicFramePr>
            <a:graphicFrameLocks noGrp="1"/>
          </p:cNvGraphicFramePr>
          <p:nvPr>
            <p:extLst>
              <p:ext uri="{D42A27DB-BD31-4B8C-83A1-F6EECF244321}">
                <p14:modId xmlns:p14="http://schemas.microsoft.com/office/powerpoint/2010/main" val="3890568028"/>
              </p:ext>
            </p:extLst>
          </p:nvPr>
        </p:nvGraphicFramePr>
        <p:xfrm>
          <a:off x="7406641" y="1152005"/>
          <a:ext cx="4378958" cy="1828800"/>
        </p:xfrm>
        <a:graphic>
          <a:graphicData uri="http://schemas.openxmlformats.org/drawingml/2006/table">
            <a:tbl>
              <a:tblPr>
                <a:tableStyleId>{1E171933-4619-4E11-9A3F-F7608DF75F80}</a:tableStyleId>
              </a:tblPr>
              <a:tblGrid>
                <a:gridCol w="844144">
                  <a:extLst>
                    <a:ext uri="{9D8B030D-6E8A-4147-A177-3AD203B41FA5}">
                      <a16:colId xmlns:a16="http://schemas.microsoft.com/office/drawing/2014/main" val="2799195960"/>
                    </a:ext>
                  </a:extLst>
                </a:gridCol>
                <a:gridCol w="1767407">
                  <a:extLst>
                    <a:ext uri="{9D8B030D-6E8A-4147-A177-3AD203B41FA5}">
                      <a16:colId xmlns:a16="http://schemas.microsoft.com/office/drawing/2014/main" val="4246561773"/>
                    </a:ext>
                  </a:extLst>
                </a:gridCol>
                <a:gridCol w="1767407">
                  <a:extLst>
                    <a:ext uri="{9D8B030D-6E8A-4147-A177-3AD203B41FA5}">
                      <a16:colId xmlns:a16="http://schemas.microsoft.com/office/drawing/2014/main" val="1146836186"/>
                    </a:ext>
                  </a:extLst>
                </a:gridCol>
              </a:tblGrid>
              <a:tr h="308489">
                <a:tc>
                  <a:txBody>
                    <a:bodyPr/>
                    <a:lstStyle/>
                    <a:p>
                      <a:pPr>
                        <a:buNone/>
                      </a:pPr>
                      <a:r>
                        <a:rPr lang="en-IN"/>
                        <a:t>Page</a:t>
                      </a:r>
                    </a:p>
                  </a:txBody>
                  <a:tcPr anchor="ctr"/>
                </a:tc>
                <a:tc>
                  <a:txBody>
                    <a:bodyPr/>
                    <a:lstStyle/>
                    <a:p>
                      <a:pPr>
                        <a:buNone/>
                      </a:pPr>
                      <a:r>
                        <a:rPr lang="en-IN"/>
                        <a:t>Result</a:t>
                      </a:r>
                    </a:p>
                  </a:txBody>
                  <a:tcPr anchor="ctr"/>
                </a:tc>
                <a:tc>
                  <a:txBody>
                    <a:bodyPr/>
                    <a:lstStyle/>
                    <a:p>
                      <a:pPr>
                        <a:buNone/>
                      </a:pPr>
                      <a:r>
                        <a:rPr lang="en-IN"/>
                        <a:t>Frames</a:t>
                      </a:r>
                    </a:p>
                  </a:txBody>
                  <a:tcPr anchor="ctr"/>
                </a:tc>
                <a:extLst>
                  <a:ext uri="{0D108BD9-81ED-4DB2-BD59-A6C34878D82A}">
                    <a16:rowId xmlns:a16="http://schemas.microsoft.com/office/drawing/2014/main" val="1647374489"/>
                  </a:ext>
                </a:extLst>
              </a:tr>
              <a:tr h="273557">
                <a:tc>
                  <a:txBody>
                    <a:bodyPr/>
                    <a:lstStyle/>
                    <a:p>
                      <a:pPr>
                        <a:buNone/>
                      </a:pPr>
                      <a:r>
                        <a:rPr lang="en-IN"/>
                        <a:t>1</a:t>
                      </a:r>
                    </a:p>
                  </a:txBody>
                  <a:tcPr anchor="ctr"/>
                </a:tc>
                <a:tc>
                  <a:txBody>
                    <a:bodyPr/>
                    <a:lstStyle/>
                    <a:p>
                      <a:pPr>
                        <a:buNone/>
                      </a:pPr>
                      <a:r>
                        <a:rPr lang="en-IN" dirty="0"/>
                        <a:t>Fault</a:t>
                      </a:r>
                    </a:p>
                  </a:txBody>
                  <a:tcPr anchor="ctr"/>
                </a:tc>
                <a:tc>
                  <a:txBody>
                    <a:bodyPr/>
                    <a:lstStyle/>
                    <a:p>
                      <a:pPr>
                        <a:buNone/>
                      </a:pPr>
                      <a:r>
                        <a:rPr lang="en-IN"/>
                        <a:t>1 - -</a:t>
                      </a:r>
                    </a:p>
                  </a:txBody>
                  <a:tcPr anchor="ctr"/>
                </a:tc>
                <a:extLst>
                  <a:ext uri="{0D108BD9-81ED-4DB2-BD59-A6C34878D82A}">
                    <a16:rowId xmlns:a16="http://schemas.microsoft.com/office/drawing/2014/main" val="3038628327"/>
                  </a:ext>
                </a:extLst>
              </a:tr>
              <a:tr h="273557">
                <a:tc>
                  <a:txBody>
                    <a:bodyPr/>
                    <a:lstStyle/>
                    <a:p>
                      <a:pPr>
                        <a:buNone/>
                      </a:pPr>
                      <a:r>
                        <a:rPr lang="en-IN"/>
                        <a:t>2</a:t>
                      </a:r>
                    </a:p>
                  </a:txBody>
                  <a:tcPr anchor="ctr"/>
                </a:tc>
                <a:tc>
                  <a:txBody>
                    <a:bodyPr/>
                    <a:lstStyle/>
                    <a:p>
                      <a:pPr>
                        <a:buNone/>
                      </a:pPr>
                      <a:r>
                        <a:rPr lang="en-IN" dirty="0"/>
                        <a:t>Fault</a:t>
                      </a:r>
                    </a:p>
                  </a:txBody>
                  <a:tcPr anchor="ctr"/>
                </a:tc>
                <a:tc>
                  <a:txBody>
                    <a:bodyPr/>
                    <a:lstStyle/>
                    <a:p>
                      <a:pPr>
                        <a:buNone/>
                      </a:pPr>
                      <a:r>
                        <a:rPr lang="en-IN"/>
                        <a:t>1 2 -</a:t>
                      </a:r>
                    </a:p>
                  </a:txBody>
                  <a:tcPr anchor="ctr"/>
                </a:tc>
                <a:extLst>
                  <a:ext uri="{0D108BD9-81ED-4DB2-BD59-A6C34878D82A}">
                    <a16:rowId xmlns:a16="http://schemas.microsoft.com/office/drawing/2014/main" val="457507928"/>
                  </a:ext>
                </a:extLst>
              </a:tr>
              <a:tr h="273557">
                <a:tc>
                  <a:txBody>
                    <a:bodyPr/>
                    <a:lstStyle/>
                    <a:p>
                      <a:pPr>
                        <a:buNone/>
                      </a:pPr>
                      <a:r>
                        <a:rPr lang="en-IN"/>
                        <a:t>3</a:t>
                      </a:r>
                    </a:p>
                  </a:txBody>
                  <a:tcPr anchor="ctr"/>
                </a:tc>
                <a:tc>
                  <a:txBody>
                    <a:bodyPr/>
                    <a:lstStyle/>
                    <a:p>
                      <a:pPr>
                        <a:buNone/>
                      </a:pPr>
                      <a:r>
                        <a:rPr lang="en-IN"/>
                        <a:t>Fault</a:t>
                      </a:r>
                    </a:p>
                  </a:txBody>
                  <a:tcPr anchor="ctr"/>
                </a:tc>
                <a:tc>
                  <a:txBody>
                    <a:bodyPr/>
                    <a:lstStyle/>
                    <a:p>
                      <a:pPr>
                        <a:buNone/>
                      </a:pPr>
                      <a:r>
                        <a:rPr lang="en-IN"/>
                        <a:t>1 2 3</a:t>
                      </a:r>
                    </a:p>
                  </a:txBody>
                  <a:tcPr anchor="ctr"/>
                </a:tc>
                <a:extLst>
                  <a:ext uri="{0D108BD9-81ED-4DB2-BD59-A6C34878D82A}">
                    <a16:rowId xmlns:a16="http://schemas.microsoft.com/office/drawing/2014/main" val="3831122834"/>
                  </a:ext>
                </a:extLst>
              </a:tr>
              <a:tr h="273557">
                <a:tc>
                  <a:txBody>
                    <a:bodyPr/>
                    <a:lstStyle/>
                    <a:p>
                      <a:pPr>
                        <a:buNone/>
                      </a:pPr>
                      <a:r>
                        <a:rPr lang="en-IN"/>
                        <a:t>1</a:t>
                      </a:r>
                    </a:p>
                  </a:txBody>
                  <a:tcPr anchor="ctr"/>
                </a:tc>
                <a:tc>
                  <a:txBody>
                    <a:bodyPr/>
                    <a:lstStyle/>
                    <a:p>
                      <a:pPr>
                        <a:buNone/>
                      </a:pPr>
                      <a:r>
                        <a:rPr lang="en-IN"/>
                        <a:t>Hit</a:t>
                      </a:r>
                    </a:p>
                  </a:txBody>
                  <a:tcPr anchor="ctr"/>
                </a:tc>
                <a:tc>
                  <a:txBody>
                    <a:bodyPr/>
                    <a:lstStyle/>
                    <a:p>
                      <a:pPr>
                        <a:buNone/>
                      </a:pPr>
                      <a:r>
                        <a:rPr lang="en-IN" dirty="0"/>
                        <a:t>1 2 3</a:t>
                      </a:r>
                    </a:p>
                  </a:txBody>
                  <a:tcPr anchor="ctr"/>
                </a:tc>
                <a:extLst>
                  <a:ext uri="{0D108BD9-81ED-4DB2-BD59-A6C34878D82A}">
                    <a16:rowId xmlns:a16="http://schemas.microsoft.com/office/drawing/2014/main" val="273661559"/>
                  </a:ext>
                </a:extLst>
              </a:tr>
            </a:tbl>
          </a:graphicData>
        </a:graphic>
      </p:graphicFrame>
      <p:sp>
        <p:nvSpPr>
          <p:cNvPr id="10" name="TextBox 9">
            <a:extLst>
              <a:ext uri="{FF2B5EF4-FFF2-40B4-BE49-F238E27FC236}">
                <a16:creationId xmlns:a16="http://schemas.microsoft.com/office/drawing/2014/main" id="{90567B08-DB08-CAB9-6B50-5316658DAF0D}"/>
              </a:ext>
            </a:extLst>
          </p:cNvPr>
          <p:cNvSpPr txBox="1"/>
          <p:nvPr/>
        </p:nvSpPr>
        <p:spPr>
          <a:xfrm>
            <a:off x="4947920" y="3559990"/>
            <a:ext cx="6014720" cy="2708434"/>
          </a:xfrm>
          <a:prstGeom prst="rect">
            <a:avLst/>
          </a:prstGeom>
          <a:noFill/>
        </p:spPr>
        <p:txBody>
          <a:bodyPr wrap="square" rtlCol="0">
            <a:spAutoFit/>
          </a:bodyPr>
          <a:lstStyle/>
          <a:p>
            <a:endParaRPr lang="en-IN" dirty="0"/>
          </a:p>
          <a:p>
            <a:r>
              <a:rPr lang="en-IN" dirty="0"/>
              <a:t>Test Case 2 – All Different pages</a:t>
            </a:r>
          </a:p>
          <a:p>
            <a:endParaRPr lang="en-IN" dirty="0"/>
          </a:p>
          <a:p>
            <a:r>
              <a:rPr lang="en-IN" sz="1400" dirty="0"/>
              <a:t>Input:</a:t>
            </a:r>
          </a:p>
          <a:p>
            <a:r>
              <a:rPr lang="en-IN" sz="1400" dirty="0"/>
              <a:t>Number of pages: 4</a:t>
            </a:r>
          </a:p>
          <a:p>
            <a:r>
              <a:rPr lang="en-IN" sz="1400" dirty="0"/>
              <a:t>Reference string: 1 2 3 4</a:t>
            </a:r>
          </a:p>
          <a:p>
            <a:r>
              <a:rPr lang="en-IN" sz="1400" dirty="0"/>
              <a:t>Number of frames: 2</a:t>
            </a:r>
          </a:p>
          <a:p>
            <a:endParaRPr lang="en-IN" dirty="0"/>
          </a:p>
          <a:p>
            <a:r>
              <a:rPr lang="en-IN" sz="1400" dirty="0"/>
              <a:t>Every requested page is initially absent, so all four are Page Fault</a:t>
            </a:r>
          </a:p>
          <a:p>
            <a:endParaRPr lang="en-IN" sz="1400" dirty="0"/>
          </a:p>
          <a:p>
            <a:r>
              <a:rPr lang="en-IN" sz="1400" dirty="0"/>
              <a:t>Output: Page Hit = 0 , Page Fault = 4</a:t>
            </a:r>
          </a:p>
        </p:txBody>
      </p:sp>
    </p:spTree>
    <p:extLst>
      <p:ext uri="{BB962C8B-B14F-4D97-AF65-F5344CB8AC3E}">
        <p14:creationId xmlns:p14="http://schemas.microsoft.com/office/powerpoint/2010/main" val="2236773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1BB1-C5B6-C34A-6087-4868288761AF}"/>
              </a:ext>
            </a:extLst>
          </p:cNvPr>
          <p:cNvSpPr>
            <a:spLocks noGrp="1"/>
          </p:cNvSpPr>
          <p:nvPr>
            <p:ph type="title"/>
          </p:nvPr>
        </p:nvSpPr>
        <p:spPr>
          <a:xfrm>
            <a:off x="529935" y="571499"/>
            <a:ext cx="11118274" cy="1154114"/>
          </a:xfrm>
        </p:spPr>
        <p:txBody>
          <a:bodyPr/>
          <a:lstStyle/>
          <a:p>
            <a:pPr lvl="0"/>
            <a:r>
              <a:rPr lang="en-US" noProof="0" dirty="0"/>
              <a:t>Advantages and Disadvantages</a:t>
            </a:r>
          </a:p>
        </p:txBody>
      </p:sp>
      <p:sp>
        <p:nvSpPr>
          <p:cNvPr id="3" name="Content Placeholder 2">
            <a:extLst>
              <a:ext uri="{FF2B5EF4-FFF2-40B4-BE49-F238E27FC236}">
                <a16:creationId xmlns:a16="http://schemas.microsoft.com/office/drawing/2014/main" id="{0A77EDD1-5A8E-0F37-E892-65A530E36B20}"/>
              </a:ext>
            </a:extLst>
          </p:cNvPr>
          <p:cNvSpPr>
            <a:spLocks noGrp="1"/>
          </p:cNvSpPr>
          <p:nvPr>
            <p:ph sz="quarter" idx="17"/>
          </p:nvPr>
        </p:nvSpPr>
        <p:spPr>
          <a:xfrm>
            <a:off x="671256" y="2601311"/>
            <a:ext cx="3626424" cy="3721535"/>
          </a:xfrm>
        </p:spPr>
        <p:txBody>
          <a:bodyPr>
            <a:normAutofit fontScale="92500" lnSpcReduction="20000"/>
          </a:bodyPr>
          <a:lstStyle/>
          <a:p>
            <a:pPr lvl="0"/>
            <a:r>
              <a:rPr lang="en-IN" dirty="0"/>
              <a:t>Simple and easy to understand. </a:t>
            </a:r>
          </a:p>
          <a:p>
            <a:pPr lvl="0"/>
            <a:r>
              <a:rPr lang="en-IN" dirty="0"/>
              <a:t>Uses recent page usage history. </a:t>
            </a:r>
          </a:p>
          <a:p>
            <a:pPr lvl="0"/>
            <a:r>
              <a:rPr lang="en-IN" dirty="0"/>
              <a:t>Can reduce page faults. </a:t>
            </a:r>
          </a:p>
          <a:p>
            <a:pPr lvl="0"/>
            <a:r>
              <a:rPr lang="en-IN" dirty="0"/>
              <a:t>Gives better performance than some basic methods. </a:t>
            </a:r>
          </a:p>
          <a:p>
            <a:pPr lvl="0"/>
            <a:r>
              <a:rPr lang="en-IN" dirty="0"/>
              <a:t>Makes efficient use of limited memory.</a:t>
            </a:r>
          </a:p>
          <a:p>
            <a:pPr marL="0" lvl="0" indent="0">
              <a:buNone/>
            </a:pPr>
            <a:endParaRPr lang="en-US" noProof="0" dirty="0"/>
          </a:p>
        </p:txBody>
      </p:sp>
      <p:sp>
        <p:nvSpPr>
          <p:cNvPr id="5" name="Content Placeholder 2">
            <a:extLst>
              <a:ext uri="{FF2B5EF4-FFF2-40B4-BE49-F238E27FC236}">
                <a16:creationId xmlns:a16="http://schemas.microsoft.com/office/drawing/2014/main" id="{39353449-53A6-682D-C22B-50E2A5B28906}"/>
              </a:ext>
            </a:extLst>
          </p:cNvPr>
          <p:cNvSpPr txBox="1">
            <a:spLocks/>
          </p:cNvSpPr>
          <p:nvPr/>
        </p:nvSpPr>
        <p:spPr>
          <a:xfrm>
            <a:off x="7313587" y="2601311"/>
            <a:ext cx="3626424" cy="3947390"/>
          </a:xfrm>
          <a:prstGeom prst="rect">
            <a:avLst/>
          </a:prstGeom>
          <a:effectLst/>
        </p:spPr>
        <p:txBody>
          <a:bodyPr vert="horz" lIns="91440" tIns="45720" rIns="91440" bIns="45720" rtlCol="0" anchor="t">
            <a:normAutofit/>
          </a:bodyPr>
          <a:lstStyle>
            <a:lvl1pPr marL="285750" indent="-285750" algn="l" defTabSz="457200" rtl="0" eaLnBrk="1" latinLnBrk="0" hangingPunct="1">
              <a:lnSpc>
                <a:spcPct val="120000"/>
              </a:lnSpc>
              <a:spcBef>
                <a:spcPts val="600"/>
              </a:spcBef>
              <a:spcAft>
                <a:spcPts val="1200"/>
              </a:spcAft>
              <a:buClr>
                <a:schemeClr val="accent1">
                  <a:lumMod val="50000"/>
                </a:schemeClr>
              </a:buClr>
              <a:buFont typeface="Arial" panose="020B0604020202020204" pitchFamily="34" charset="0"/>
              <a:buChar char="•"/>
              <a:defRPr sz="1800" kern="1200">
                <a:solidFill>
                  <a:schemeClr val="accent1">
                    <a:lumMod val="50000"/>
                  </a:schemeClr>
                </a:solidFill>
                <a:latin typeface="+mn-lt"/>
                <a:ea typeface="+mn-ea"/>
                <a:cs typeface="+mn-cs"/>
              </a:defRPr>
            </a:lvl1pPr>
            <a:lvl2pPr marL="742950" indent="-285750" algn="l" defTabSz="457200" rtl="0" eaLnBrk="1" latinLnBrk="0" hangingPunct="1">
              <a:lnSpc>
                <a:spcPct val="120000"/>
              </a:lnSpc>
              <a:spcBef>
                <a:spcPct val="20000"/>
              </a:spcBef>
              <a:spcAft>
                <a:spcPts val="1200"/>
              </a:spcAft>
              <a:buClr>
                <a:schemeClr val="accent1">
                  <a:lumMod val="50000"/>
                </a:schemeClr>
              </a:buClr>
              <a:buFont typeface="Arial" panose="020B0604020202020204" pitchFamily="34" charset="0"/>
              <a:buChar char="•"/>
              <a:defRPr sz="1600" kern="1200">
                <a:solidFill>
                  <a:schemeClr val="accent1">
                    <a:lumMod val="50000"/>
                  </a:schemeClr>
                </a:solidFill>
                <a:latin typeface="+mn-lt"/>
                <a:ea typeface="+mn-ea"/>
                <a:cs typeface="+mn-cs"/>
              </a:defRPr>
            </a:lvl2pPr>
            <a:lvl3pPr marL="1143000" indent="-228600" algn="l" defTabSz="457200" rtl="0" eaLnBrk="1" latinLnBrk="0" hangingPunct="1">
              <a:lnSpc>
                <a:spcPct val="120000"/>
              </a:lnSpc>
              <a:spcBef>
                <a:spcPct val="20000"/>
              </a:spcBef>
              <a:spcAft>
                <a:spcPts val="1200"/>
              </a:spcAft>
              <a:buClr>
                <a:schemeClr val="accent1">
                  <a:lumMod val="50000"/>
                </a:schemeClr>
              </a:buClr>
              <a:buFont typeface="Arial" panose="020B0604020202020204" pitchFamily="34" charset="0"/>
              <a:buChar char="•"/>
              <a:defRPr sz="1400" kern="1200">
                <a:solidFill>
                  <a:schemeClr val="accent1">
                    <a:lumMod val="50000"/>
                  </a:schemeClr>
                </a:solidFill>
                <a:latin typeface="+mn-lt"/>
                <a:ea typeface="+mn-ea"/>
                <a:cs typeface="+mn-cs"/>
              </a:defRPr>
            </a:lvl3pPr>
            <a:lvl4pPr marL="1600200" indent="-228600" algn="l" defTabSz="457200" rtl="0" eaLnBrk="1" latinLnBrk="0" hangingPunct="1">
              <a:lnSpc>
                <a:spcPct val="120000"/>
              </a:lnSpc>
              <a:spcBef>
                <a:spcPct val="20000"/>
              </a:spcBef>
              <a:spcAft>
                <a:spcPts val="1200"/>
              </a:spcAft>
              <a:buClr>
                <a:schemeClr val="accent1">
                  <a:lumMod val="50000"/>
                </a:schemeClr>
              </a:buClr>
              <a:buFont typeface="Arial" panose="020B0604020202020204" pitchFamily="34" charset="0"/>
              <a:buChar char="•"/>
              <a:defRPr sz="1200" kern="1200">
                <a:solidFill>
                  <a:schemeClr val="accent1">
                    <a:lumMod val="50000"/>
                  </a:schemeClr>
                </a:solidFill>
                <a:latin typeface="+mn-lt"/>
                <a:ea typeface="+mn-ea"/>
                <a:cs typeface="+mn-cs"/>
              </a:defRPr>
            </a:lvl4pPr>
            <a:lvl5pPr marL="2057400" indent="-228600" algn="l" defTabSz="457200" rtl="0" eaLnBrk="1" latinLnBrk="0" hangingPunct="1">
              <a:lnSpc>
                <a:spcPct val="120000"/>
              </a:lnSpc>
              <a:spcBef>
                <a:spcPct val="20000"/>
              </a:spcBef>
              <a:spcAft>
                <a:spcPts val="1200"/>
              </a:spcAft>
              <a:buClr>
                <a:schemeClr val="accent1">
                  <a:lumMod val="50000"/>
                </a:schemeClr>
              </a:buClr>
              <a:buFont typeface="Arial" panose="020B0604020202020204" pitchFamily="34" charset="0"/>
              <a:buChar char="•"/>
              <a:defRPr sz="1200" kern="1200">
                <a:solidFill>
                  <a:schemeClr val="accent1">
                    <a:lumMod val="50000"/>
                  </a:schemeClr>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lvl="0"/>
            <a:r>
              <a:rPr lang="en-IN" dirty="0"/>
              <a:t>Requires tracking of page usage. </a:t>
            </a:r>
          </a:p>
          <a:p>
            <a:pPr lvl="0"/>
            <a:r>
              <a:rPr lang="en-IN" dirty="0"/>
              <a:t>Needs additional memory and processing time. </a:t>
            </a:r>
          </a:p>
          <a:p>
            <a:pPr lvl="0"/>
            <a:r>
              <a:rPr lang="en-IN" dirty="0"/>
              <a:t>More complex to implement than FIFO. </a:t>
            </a:r>
          </a:p>
          <a:p>
            <a:pPr lvl="0"/>
            <a:r>
              <a:rPr lang="en-IN" dirty="0"/>
              <a:t>Exact LRU tracking can add overhead.</a:t>
            </a:r>
          </a:p>
          <a:p>
            <a:pPr marL="0" indent="0">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A2B941B4-BC50-421B-6228-4DFAC0F8A127}"/>
              </a:ext>
            </a:extLst>
          </p:cNvPr>
          <p:cNvSpPr txBox="1"/>
          <p:nvPr/>
        </p:nvSpPr>
        <p:spPr>
          <a:xfrm>
            <a:off x="1402428" y="1978796"/>
            <a:ext cx="2164080" cy="369332"/>
          </a:xfrm>
          <a:prstGeom prst="rect">
            <a:avLst/>
          </a:prstGeom>
          <a:noFill/>
        </p:spPr>
        <p:txBody>
          <a:bodyPr wrap="square" rtlCol="0">
            <a:spAutoFit/>
          </a:bodyPr>
          <a:lstStyle/>
          <a:p>
            <a:r>
              <a:rPr lang="en-IN" u="sng" dirty="0">
                <a:solidFill>
                  <a:schemeClr val="accent1">
                    <a:lumMod val="50000"/>
                  </a:schemeClr>
                </a:solidFill>
              </a:rPr>
              <a:t>Advantages</a:t>
            </a:r>
          </a:p>
        </p:txBody>
      </p:sp>
      <p:sp>
        <p:nvSpPr>
          <p:cNvPr id="8" name="TextBox 7">
            <a:extLst>
              <a:ext uri="{FF2B5EF4-FFF2-40B4-BE49-F238E27FC236}">
                <a16:creationId xmlns:a16="http://schemas.microsoft.com/office/drawing/2014/main" id="{52F00A30-FEB7-7613-DCC2-1D855530467B}"/>
              </a:ext>
            </a:extLst>
          </p:cNvPr>
          <p:cNvSpPr txBox="1"/>
          <p:nvPr/>
        </p:nvSpPr>
        <p:spPr>
          <a:xfrm>
            <a:off x="8044759" y="1978796"/>
            <a:ext cx="2164080" cy="369332"/>
          </a:xfrm>
          <a:prstGeom prst="rect">
            <a:avLst/>
          </a:prstGeom>
          <a:noFill/>
        </p:spPr>
        <p:txBody>
          <a:bodyPr wrap="square" rtlCol="0">
            <a:spAutoFit/>
          </a:bodyPr>
          <a:lstStyle/>
          <a:p>
            <a:r>
              <a:rPr lang="en-IN" u="sng" dirty="0">
                <a:solidFill>
                  <a:schemeClr val="accent1">
                    <a:lumMod val="50000"/>
                  </a:schemeClr>
                </a:solidFill>
              </a:rPr>
              <a:t>Disadvantages</a:t>
            </a:r>
          </a:p>
        </p:txBody>
      </p:sp>
    </p:spTree>
    <p:extLst>
      <p:ext uri="{BB962C8B-B14F-4D97-AF65-F5344CB8AC3E}">
        <p14:creationId xmlns:p14="http://schemas.microsoft.com/office/powerpoint/2010/main" val="3119354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7DFA-9278-9CB6-C5BC-520AB107B9E7}"/>
              </a:ext>
            </a:extLst>
          </p:cNvPr>
          <p:cNvSpPr>
            <a:spLocks noGrp="1"/>
          </p:cNvSpPr>
          <p:nvPr>
            <p:ph type="title"/>
          </p:nvPr>
        </p:nvSpPr>
        <p:spPr>
          <a:xfrm>
            <a:off x="881121" y="518160"/>
            <a:ext cx="10571998" cy="570528"/>
          </a:xfrm>
        </p:spPr>
        <p:txBody>
          <a:bodyPr/>
          <a:lstStyle/>
          <a:p>
            <a:pPr lvl="0"/>
            <a:r>
              <a:rPr lang="en-US" sz="3200" noProof="0" dirty="0"/>
              <a:t>Output</a:t>
            </a:r>
            <a:r>
              <a:rPr lang="en-US" sz="3200" dirty="0"/>
              <a:t>s</a:t>
            </a:r>
            <a:endParaRPr lang="en-US" sz="3200" noProof="0" dirty="0"/>
          </a:p>
        </p:txBody>
      </p:sp>
      <p:pic>
        <p:nvPicPr>
          <p:cNvPr id="5" name="Picture 4">
            <a:extLst>
              <a:ext uri="{FF2B5EF4-FFF2-40B4-BE49-F238E27FC236}">
                <a16:creationId xmlns:a16="http://schemas.microsoft.com/office/drawing/2014/main" id="{905F3578-9911-BCA9-3620-CB4E9DD03C20}"/>
              </a:ext>
            </a:extLst>
          </p:cNvPr>
          <p:cNvPicPr>
            <a:picLocks noChangeAspect="1"/>
          </p:cNvPicPr>
          <p:nvPr/>
        </p:nvPicPr>
        <p:blipFill>
          <a:blip r:embed="rId3"/>
          <a:stretch>
            <a:fillRect/>
          </a:stretch>
        </p:blipFill>
        <p:spPr>
          <a:xfrm>
            <a:off x="6167120" y="1539874"/>
            <a:ext cx="5547360" cy="3275965"/>
          </a:xfrm>
          <a:prstGeom prst="rect">
            <a:avLst/>
          </a:prstGeom>
        </p:spPr>
      </p:pic>
      <p:pic>
        <p:nvPicPr>
          <p:cNvPr id="7" name="Picture 6">
            <a:extLst>
              <a:ext uri="{FF2B5EF4-FFF2-40B4-BE49-F238E27FC236}">
                <a16:creationId xmlns:a16="http://schemas.microsoft.com/office/drawing/2014/main" id="{DD01012B-5F24-A84B-EF5A-6B1DD3C99145}"/>
              </a:ext>
            </a:extLst>
          </p:cNvPr>
          <p:cNvPicPr>
            <a:picLocks noChangeAspect="1"/>
          </p:cNvPicPr>
          <p:nvPr/>
        </p:nvPicPr>
        <p:blipFill>
          <a:blip r:embed="rId4"/>
          <a:stretch>
            <a:fillRect/>
          </a:stretch>
        </p:blipFill>
        <p:spPr>
          <a:xfrm>
            <a:off x="477520" y="1539874"/>
            <a:ext cx="5547360" cy="3275965"/>
          </a:xfrm>
          <a:prstGeom prst="rect">
            <a:avLst/>
          </a:prstGeom>
        </p:spPr>
      </p:pic>
    </p:spTree>
    <p:extLst>
      <p:ext uri="{BB962C8B-B14F-4D97-AF65-F5344CB8AC3E}">
        <p14:creationId xmlns:p14="http://schemas.microsoft.com/office/powerpoint/2010/main" val="1722147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4DB16-AE67-5E4A-449D-65654C355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870DF-4D3D-362B-4EFA-954576064B29}"/>
              </a:ext>
            </a:extLst>
          </p:cNvPr>
          <p:cNvSpPr>
            <a:spLocks noGrp="1"/>
          </p:cNvSpPr>
          <p:nvPr>
            <p:ph type="title"/>
          </p:nvPr>
        </p:nvSpPr>
        <p:spPr>
          <a:xfrm>
            <a:off x="284479" y="457200"/>
            <a:ext cx="11136861" cy="1818639"/>
          </a:xfrm>
        </p:spPr>
        <p:txBody>
          <a:bodyPr/>
          <a:lstStyle/>
          <a:p>
            <a:pPr lvl="0"/>
            <a:r>
              <a:rPr lang="en-US" sz="3600" noProof="0" dirty="0"/>
              <a:t>Conclusion</a:t>
            </a:r>
            <a:br>
              <a:rPr lang="en-US" noProof="0" dirty="0"/>
            </a:br>
            <a:endParaRPr lang="en-US" noProof="0" dirty="0"/>
          </a:p>
        </p:txBody>
      </p:sp>
      <p:sp>
        <p:nvSpPr>
          <p:cNvPr id="3" name="Text Placeholder 2">
            <a:extLst>
              <a:ext uri="{FF2B5EF4-FFF2-40B4-BE49-F238E27FC236}">
                <a16:creationId xmlns:a16="http://schemas.microsoft.com/office/drawing/2014/main" id="{3A37EAAD-1628-7486-52F9-103C75945469}"/>
              </a:ext>
            </a:extLst>
          </p:cNvPr>
          <p:cNvSpPr>
            <a:spLocks noGrp="1"/>
          </p:cNvSpPr>
          <p:nvPr>
            <p:ph type="body" sz="quarter" idx="14"/>
          </p:nvPr>
        </p:nvSpPr>
        <p:spPr>
          <a:xfrm>
            <a:off x="770659" y="1888146"/>
            <a:ext cx="10650681" cy="2296843"/>
          </a:xfrm>
        </p:spPr>
        <p:txBody>
          <a:bodyPr/>
          <a:lstStyle/>
          <a:p>
            <a:pPr marL="285750" lvl="0" indent="-285750" algn="l">
              <a:buFont typeface="Arial" panose="020B0604020202020204" pitchFamily="34" charset="0"/>
              <a:buChar char="•"/>
            </a:pPr>
            <a:r>
              <a:rPr lang="en-IN" dirty="0"/>
              <a:t>LRU stands for </a:t>
            </a:r>
            <a:r>
              <a:rPr lang="en-IN" b="1" dirty="0"/>
              <a:t>Least Recently Used</a:t>
            </a:r>
            <a:r>
              <a:rPr lang="en-IN" dirty="0"/>
              <a:t>. </a:t>
            </a:r>
          </a:p>
          <a:p>
            <a:pPr marL="285750" lvl="0" indent="-285750" algn="l">
              <a:buFont typeface="Arial" panose="020B0604020202020204" pitchFamily="34" charset="0"/>
              <a:buChar char="•"/>
            </a:pPr>
            <a:r>
              <a:rPr lang="en-IN" dirty="0"/>
              <a:t>It replaces the page that has been used least recently. </a:t>
            </a:r>
          </a:p>
          <a:p>
            <a:pPr marL="285750" lvl="0" indent="-285750" algn="l">
              <a:buFont typeface="Arial" panose="020B0604020202020204" pitchFamily="34" charset="0"/>
              <a:buChar char="•"/>
            </a:pPr>
            <a:r>
              <a:rPr lang="en-IN" dirty="0"/>
              <a:t>It helps manage limited memory efficiently. </a:t>
            </a:r>
          </a:p>
          <a:p>
            <a:pPr marL="285750" lvl="0" indent="-285750" algn="l">
              <a:buFont typeface="Arial" panose="020B0604020202020204" pitchFamily="34" charset="0"/>
              <a:buChar char="•"/>
            </a:pPr>
            <a:r>
              <a:rPr lang="en-IN" dirty="0"/>
              <a:t>The program identifies page hit and page fault. </a:t>
            </a:r>
          </a:p>
          <a:p>
            <a:pPr marL="285750" lvl="0" indent="-285750" algn="l">
              <a:buFont typeface="Arial" panose="020B0604020202020204" pitchFamily="34" charset="0"/>
              <a:buChar char="•"/>
            </a:pPr>
            <a:r>
              <a:rPr lang="en-IN" dirty="0"/>
              <a:t>We implemented and tested the LRU algorithm using C language in Ubuntu.</a:t>
            </a:r>
          </a:p>
          <a:p>
            <a:pPr marL="285750" lvl="0" indent="-285750" algn="l">
              <a:buFont typeface="Arial" panose="020B0604020202020204" pitchFamily="34" charset="0"/>
              <a:buChar char="•"/>
            </a:pPr>
            <a:r>
              <a:rPr lang="en-IN" dirty="0"/>
              <a:t> Our test results demonstrate how LRU works with different reference strings</a:t>
            </a:r>
          </a:p>
          <a:p>
            <a:pPr lvl="0"/>
            <a:endParaRPr lang="en-US" noProof="0" dirty="0"/>
          </a:p>
        </p:txBody>
      </p:sp>
    </p:spTree>
    <p:extLst>
      <p:ext uri="{BB962C8B-B14F-4D97-AF65-F5344CB8AC3E}">
        <p14:creationId xmlns:p14="http://schemas.microsoft.com/office/powerpoint/2010/main" val="1833511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US" dirty="0"/>
              <a:t>Thank You</a:t>
            </a:r>
            <a:endParaRPr lang="en-US" noProof="0" dirty="0"/>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2.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{9AC8BBA7-DE92-411F-918F-756AD1CC48C0}TF4e23ad37-c1a6-42e6-a6ec-6518d97eca9ec3cad5d6_win32-e4fb00466b0d</Template>
  <TotalTime>107</TotalTime>
  <Words>869</Words>
  <Application>Microsoft Office PowerPoint</Application>
  <PresentationFormat>Widescreen</PresentationFormat>
  <Paragraphs>173</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Century Gothic</vt:lpstr>
      <vt:lpstr>Courier New</vt:lpstr>
      <vt:lpstr>Wingdings 2</vt:lpstr>
      <vt:lpstr>Quotable</vt:lpstr>
      <vt:lpstr>LRU (Least Recently Used) Page Replacement Algorithm</vt:lpstr>
      <vt:lpstr>Problem  Statement</vt:lpstr>
      <vt:lpstr>Introduction</vt:lpstr>
      <vt:lpstr>Objective</vt:lpstr>
      <vt:lpstr>LRU Working</vt:lpstr>
      <vt:lpstr>Algorithm</vt:lpstr>
      <vt:lpstr>LRU Flowchart</vt:lpstr>
      <vt:lpstr>Sample example</vt:lpstr>
      <vt:lpstr>Test Case</vt:lpstr>
      <vt:lpstr>Advantages and Disadvantages</vt:lpstr>
      <vt:lpstr>Outputs</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AVUSULA RAJESHWARI</dc:creator>
  <cp:lastModifiedBy>AVUSULA RAJESHWARI</cp:lastModifiedBy>
  <cp:revision>2</cp:revision>
  <dcterms:created xsi:type="dcterms:W3CDTF">2026-10-04T22:59:29Z</dcterms:created>
  <dcterms:modified xsi:type="dcterms:W3CDTF">2026-10-05T00:47:26Z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